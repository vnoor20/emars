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8" r:id="rId4"/>
    <p:sldId id="259" r:id="rId5"/>
    <p:sldId id="260" r:id="rId6"/>
    <p:sldId id="270" r:id="rId7"/>
    <p:sldId id="271" r:id="rId8"/>
    <p:sldId id="261" r:id="rId9"/>
    <p:sldId id="272" r:id="rId10"/>
    <p:sldId id="267" r:id="rId11"/>
    <p:sldId id="273" r:id="rId12"/>
    <p:sldId id="274" r:id="rId13"/>
    <p:sldId id="275" r:id="rId14"/>
    <p:sldId id="268" r:id="rId15"/>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866927-D085-FB45-A8FB-CE08685512BB}" v="55" dt="2025-11-04T03:49:18.653"/>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638"/>
    <p:restoredTop sz="80137"/>
  </p:normalViewPr>
  <p:slideViewPr>
    <p:cSldViewPr>
      <p:cViewPr>
        <p:scale>
          <a:sx n="91" d="100"/>
          <a:sy n="91" d="100"/>
        </p:scale>
        <p:origin x="1424" y="38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958BDF42-D01D-C247-ACA9-B95955DB6881}" type="datetimeFigureOut">
              <a:rPr lang="en-US" smtClean="0"/>
              <a:t>5/4/26</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B3B937CE-761C-8B43-8D2F-AE1BD0C4B47C}" type="slidenum">
              <a:rPr lang="en-US" smtClean="0"/>
              <a:t>‹#›</a:t>
            </a:fld>
            <a:endParaRPr lang="en-US"/>
          </a:p>
        </p:txBody>
      </p:sp>
    </p:spTree>
    <p:extLst>
      <p:ext uri="{BB962C8B-B14F-4D97-AF65-F5344CB8AC3E}">
        <p14:creationId xmlns:p14="http://schemas.microsoft.com/office/powerpoint/2010/main" val="40319758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Good [morning/afternoon], everyone. My name is [Rahul/Harnoor], and today we will be presenting our research on E-MARS — the Emergent Modular Adaptive Reliability System. This work was carried out at Chitkara University under the guidance of Dr. Anshu Singla. Our paper explores how an idea from deep learning — emergent modularity — can be applied to solve a very practical problem in cloud computing: managing the reliability of large-scale microservice systems. We hope by the end of this talk, you will see why this cross-domain inspiration leads to genuinely better outcomes for distributed system management.</a:t>
            </a:r>
            <a:endParaRPr lang="en-US" dirty="0"/>
          </a:p>
        </p:txBody>
      </p:sp>
      <p:sp>
        <p:nvSpPr>
          <p:cNvPr id="4" name="Slide Number Placeholder 3"/>
          <p:cNvSpPr>
            <a:spLocks noGrp="1"/>
          </p:cNvSpPr>
          <p:nvPr>
            <p:ph type="sldNum" sz="quarter" idx="5"/>
          </p:nvPr>
        </p:nvSpPr>
        <p:spPr/>
        <p:txBody>
          <a:bodyPr/>
          <a:lstStyle/>
          <a:p>
            <a:fld id="{B3B937CE-761C-8B43-8D2F-AE1BD0C4B47C}" type="slidenum">
              <a:rPr lang="en-US" smtClean="0"/>
              <a:t>1</a:t>
            </a:fld>
            <a:endParaRPr lang="en-US"/>
          </a:p>
        </p:txBody>
      </p:sp>
    </p:spTree>
    <p:extLst>
      <p:ext uri="{BB962C8B-B14F-4D97-AF65-F5344CB8AC3E}">
        <p14:creationId xmlns:p14="http://schemas.microsoft.com/office/powerpoint/2010/main" val="32706633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To understand why E-MARS is needed, consider the scale of modern cloud deployments. A single production system may have hundreds or even thousands of microservices, each talking to many others. When one service fails, that failure does not stay contained — it propagates through the dependency chain and can bring down large parts of the system. Traditional Site Reliability Engineering approaches try to handle this by monitoring and scaling each service independently, using fixed rule-based thresholds. But this approach fundamentally misses the point: services are not isolated. They form complex interdependent networks, and treating them as independent units leads to missed failures, slow recovery, and wasted resources. This is the core problem we set out to solve</a:t>
            </a:r>
            <a:endParaRPr lang="en-US" dirty="0"/>
          </a:p>
        </p:txBody>
      </p:sp>
      <p:sp>
        <p:nvSpPr>
          <p:cNvPr id="4" name="Slide Number Placeholder 3"/>
          <p:cNvSpPr>
            <a:spLocks noGrp="1"/>
          </p:cNvSpPr>
          <p:nvPr>
            <p:ph type="sldNum" sz="quarter" idx="5"/>
          </p:nvPr>
        </p:nvSpPr>
        <p:spPr/>
        <p:txBody>
          <a:bodyPr/>
          <a:lstStyle/>
          <a:p>
            <a:fld id="{B3B937CE-761C-8B43-8D2F-AE1BD0C4B47C}" type="slidenum">
              <a:rPr lang="en-US" smtClean="0"/>
              <a:t>2</a:t>
            </a:fld>
            <a:endParaRPr lang="en-US"/>
          </a:p>
        </p:txBody>
      </p:sp>
    </p:spTree>
    <p:extLst>
      <p:ext uri="{BB962C8B-B14F-4D97-AF65-F5344CB8AC3E}">
        <p14:creationId xmlns:p14="http://schemas.microsoft.com/office/powerpoint/2010/main" val="21925796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Our inspiration came from an interesting observation in deep learning research. Studies have shown that large neural networks, during training, spontaneously develop specialized subnetworks without anyone explicitly designing them — this is called emergent modularity. When we looked at microservice systems, we noticed a strikingly similar pattern. Services naturally cluster into functional groups — for example, all the services involved in payment processing tend to communicate heavily with each other and relatively little with services in, say, the search pipeline. This emergent structure already exists in production systems. The question we asked was: what if we could automatically detect these clusters and use them as the fundamental unit for reliability management? That question became E-MARS.</a:t>
            </a:r>
            <a:endParaRPr lang="en-US" dirty="0"/>
          </a:p>
        </p:txBody>
      </p:sp>
      <p:sp>
        <p:nvSpPr>
          <p:cNvPr id="4" name="Slide Number Placeholder 3"/>
          <p:cNvSpPr>
            <a:spLocks noGrp="1"/>
          </p:cNvSpPr>
          <p:nvPr>
            <p:ph type="sldNum" sz="quarter" idx="5"/>
          </p:nvPr>
        </p:nvSpPr>
        <p:spPr/>
        <p:txBody>
          <a:bodyPr/>
          <a:lstStyle/>
          <a:p>
            <a:fld id="{B3B937CE-761C-8B43-8D2F-AE1BD0C4B47C}" type="slidenum">
              <a:rPr lang="en-US" smtClean="0"/>
              <a:t>3</a:t>
            </a:fld>
            <a:endParaRPr lang="en-US"/>
          </a:p>
        </p:txBody>
      </p:sp>
    </p:spTree>
    <p:extLst>
      <p:ext uri="{BB962C8B-B14F-4D97-AF65-F5344CB8AC3E}">
        <p14:creationId xmlns:p14="http://schemas.microsoft.com/office/powerpoint/2010/main" val="36053692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Our research has six concrete objectives. First, we formally model the microservice ecosystem as a weighted interaction graph where nodes are services and edges represent runtime communication. Second, we automatically discover the emergent modules within that graph using community detection algorithms. Third, we design reliability policies that operate at the module level rather than the individual service level. Fourth and fifth, we aim to demonstrate measurable improvements in latency, MTTR, error rates, and resource utilization. And sixth, we rigorously evaluate E-MARS against multiple baselines to validate our claims. Each of these objectives maps directly to a section of the paper, and we will walk through each one today.</a:t>
            </a:r>
            <a:endParaRPr lang="en-US" dirty="0"/>
          </a:p>
        </p:txBody>
      </p:sp>
      <p:sp>
        <p:nvSpPr>
          <p:cNvPr id="4" name="Slide Number Placeholder 3"/>
          <p:cNvSpPr>
            <a:spLocks noGrp="1"/>
          </p:cNvSpPr>
          <p:nvPr>
            <p:ph type="sldNum" sz="quarter" idx="5"/>
          </p:nvPr>
        </p:nvSpPr>
        <p:spPr/>
        <p:txBody>
          <a:bodyPr/>
          <a:lstStyle/>
          <a:p>
            <a:fld id="{B3B937CE-761C-8B43-8D2F-AE1BD0C4B47C}" type="slidenum">
              <a:rPr lang="en-US" smtClean="0"/>
              <a:t>4</a:t>
            </a:fld>
            <a:endParaRPr lang="en-US"/>
          </a:p>
        </p:txBody>
      </p:sp>
    </p:spTree>
    <p:extLst>
      <p:ext uri="{BB962C8B-B14F-4D97-AF65-F5344CB8AC3E}">
        <p14:creationId xmlns:p14="http://schemas.microsoft.com/office/powerpoint/2010/main" val="3295095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E-MARS methodology has four stages that flow naturally from one to the next. It starts with data collection — we gather runtime telemetry from the live system using standard observability tools like Prometheus and </a:t>
            </a:r>
            <a:r>
              <a:rPr lang="en-IN" dirty="0" err="1"/>
              <a:t>OpenTelemetry</a:t>
            </a:r>
            <a:r>
              <a:rPr lang="en-IN" dirty="0"/>
              <a:t>. This data feeds into the graph construction stage, where we build a weighted directed graph. The edge weight formula combines two signals: how frequently two services communicate, and what the latency between them is. The intuition is that services with high frequency and low latency are tightly coupled and likely belong to the same functional module. In stage three, we run a Louvain-style community detection algorithm on this graph to discover the emergent modules. And in stage four, we apply reliability policies at the module level — scaling, isolation, and routing decisions are made for the module as a whole rather than for individual </a:t>
            </a:r>
            <a:endParaRPr lang="en-US" dirty="0"/>
          </a:p>
        </p:txBody>
      </p:sp>
      <p:sp>
        <p:nvSpPr>
          <p:cNvPr id="4" name="Slide Number Placeholder 3"/>
          <p:cNvSpPr>
            <a:spLocks noGrp="1"/>
          </p:cNvSpPr>
          <p:nvPr>
            <p:ph type="sldNum" sz="quarter" idx="5"/>
          </p:nvPr>
        </p:nvSpPr>
        <p:spPr/>
        <p:txBody>
          <a:bodyPr/>
          <a:lstStyle/>
          <a:p>
            <a:fld id="{B3B937CE-761C-8B43-8D2F-AE1BD0C4B47C}" type="slidenum">
              <a:rPr lang="en-US" smtClean="0"/>
              <a:t>5</a:t>
            </a:fld>
            <a:endParaRPr lang="en-US"/>
          </a:p>
        </p:txBody>
      </p:sp>
    </p:spTree>
    <p:extLst>
      <p:ext uri="{BB962C8B-B14F-4D97-AF65-F5344CB8AC3E}">
        <p14:creationId xmlns:p14="http://schemas.microsoft.com/office/powerpoint/2010/main" val="127529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a:t>
            </a:r>
            <a:r>
              <a:rPr lang="en-IN" dirty="0"/>
              <a:t> Looking at Figure 1 in our paper, the system architecture translates the four methodology stages into five concrete components. The Observability Layer is the data entry point — everything flows from what we can measure. The Interaction Graph Builder converts raw telemetry into the weighted graph structure. The Module Detection Engine runs the clustering algorithm to identify emergent service groups. The Reliability Control Engine then acts on those modules using coordinated policies. And finally, the Reinforcement Learning Engine provides the intelligent decision-making layer — using PPO for longer-horizon strategic decisions like gradual autoscaling, and DQN for reactive short-horizon decisions like immediate fault isolation. All of these components operate in a continuous loop, re-evaluating the system state and adapting as workloads change.</a:t>
            </a:r>
            <a:endParaRPr lang="en-US" dirty="0"/>
          </a:p>
        </p:txBody>
      </p:sp>
      <p:sp>
        <p:nvSpPr>
          <p:cNvPr id="4" name="Slide Number Placeholder 3"/>
          <p:cNvSpPr>
            <a:spLocks noGrp="1"/>
          </p:cNvSpPr>
          <p:nvPr>
            <p:ph type="sldNum" sz="quarter" idx="5"/>
          </p:nvPr>
        </p:nvSpPr>
        <p:spPr/>
        <p:txBody>
          <a:bodyPr/>
          <a:lstStyle/>
          <a:p>
            <a:fld id="{B3B937CE-761C-8B43-8D2F-AE1BD0C4B47C}" type="slidenum">
              <a:rPr lang="en-US" smtClean="0"/>
              <a:t>6</a:t>
            </a:fld>
            <a:endParaRPr lang="en-US"/>
          </a:p>
        </p:txBody>
      </p:sp>
    </p:spTree>
    <p:extLst>
      <p:ext uri="{BB962C8B-B14F-4D97-AF65-F5344CB8AC3E}">
        <p14:creationId xmlns:p14="http://schemas.microsoft.com/office/powerpoint/2010/main" val="37478611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 This slide shows the core algorithm that drives E-MARS’s module discovery. It is a greedy modularity maximization approach inspired by the Louvain method. We start by treating every service as its own isolated community. Then at each iteration, we consider every possible pair of communities and compute how much the overall modularity score Q would increase if we merged them. We perform the merge that gives the biggest gain, and we keep repeating this until no merge can improve Q any further. The result is a stable set of service modules that reflect the natural interaction structure of the system. The computational complexity is O(N log N), which means it scales well even for very large deployments with thousands of services. This </a:t>
            </a:r>
            <a:endParaRPr lang="en-US" dirty="0"/>
          </a:p>
        </p:txBody>
      </p:sp>
      <p:sp>
        <p:nvSpPr>
          <p:cNvPr id="4" name="Slide Number Placeholder 3"/>
          <p:cNvSpPr>
            <a:spLocks noGrp="1"/>
          </p:cNvSpPr>
          <p:nvPr>
            <p:ph type="sldNum" sz="quarter" idx="5"/>
          </p:nvPr>
        </p:nvSpPr>
        <p:spPr/>
        <p:txBody>
          <a:bodyPr/>
          <a:lstStyle/>
          <a:p>
            <a:fld id="{B3B937CE-761C-8B43-8D2F-AE1BD0C4B47C}" type="slidenum">
              <a:rPr lang="en-US" smtClean="0"/>
              <a:t>7</a:t>
            </a:fld>
            <a:endParaRPr lang="en-US"/>
          </a:p>
        </p:txBody>
      </p:sp>
    </p:spTree>
    <p:extLst>
      <p:ext uri="{BB962C8B-B14F-4D97-AF65-F5344CB8AC3E}">
        <p14:creationId xmlns:p14="http://schemas.microsoft.com/office/powerpoint/2010/main" val="18328256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For our evaluation, we built a simulated microservice environment with 50 services running under realistic stress conditions — including burst traffic, random service failures, and cascading dependency failures. We compared four configurations. The first is the traditional per-service SRE baseline. The second is Random Graph Partitioning, where services are randomly assigned to groups — this is a critical baseline because it lets us isolate whether it is the act of grouping services, or specifically the quality of our modularity-based grouping, that drives performance gains. The third is an ADAF-style AI-driven approach, which uses deep reinforcement learning but operates at the individual service level without graph-based structural awareness. And the fourth is E-MARS itself. We evaluated all configurations across five metrics: latency, throughput, failure propagation, resource efficiency, and MTTR.</a:t>
            </a:r>
            <a:endParaRPr lang="en-US" dirty="0"/>
          </a:p>
        </p:txBody>
      </p:sp>
      <p:sp>
        <p:nvSpPr>
          <p:cNvPr id="4" name="Slide Number Placeholder 3"/>
          <p:cNvSpPr>
            <a:spLocks noGrp="1"/>
          </p:cNvSpPr>
          <p:nvPr>
            <p:ph type="sldNum" sz="quarter" idx="5"/>
          </p:nvPr>
        </p:nvSpPr>
        <p:spPr/>
        <p:txBody>
          <a:bodyPr/>
          <a:lstStyle/>
          <a:p>
            <a:fld id="{B3B937CE-761C-8B43-8D2F-AE1BD0C4B47C}" type="slidenum">
              <a:rPr lang="en-US" smtClean="0"/>
              <a:t>8</a:t>
            </a:fld>
            <a:endParaRPr lang="en-US"/>
          </a:p>
        </p:txBody>
      </p:sp>
    </p:spTree>
    <p:extLst>
      <p:ext uri="{BB962C8B-B14F-4D97-AF65-F5344CB8AC3E}">
        <p14:creationId xmlns:p14="http://schemas.microsoft.com/office/powerpoint/2010/main" val="5679416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a:t>
            </a:r>
            <a:r>
              <a:rPr lang="en-IN" dirty="0"/>
              <a:t> This table, visualized as Figure 2 in our paper, tells a particularly striking story about latency under load. At low workloads, all four configurations perform comparably. But as workload increases toward 800 requests per second, the gap becomes dramatic. The per-service SRE baseline degrades to 450 milliseconds — nearly exponential growth. E-MARS, by contrast, reaches only 235 milliseconds — a near-linear scaling profile. The key reason for this stability is coordinated module-level scaling. When a module is under stress, E-MARS scales all services in that module together simultaneously, preventing the bottleneck-shifting that occurs when services are scaled independently. This coordinated response is only possible because E-MARS understands the structural relationships between services.</a:t>
            </a:r>
            <a:endParaRPr lang="en-US" dirty="0"/>
          </a:p>
        </p:txBody>
      </p:sp>
      <p:sp>
        <p:nvSpPr>
          <p:cNvPr id="4" name="Slide Number Placeholder 3"/>
          <p:cNvSpPr>
            <a:spLocks noGrp="1"/>
          </p:cNvSpPr>
          <p:nvPr>
            <p:ph type="sldNum" sz="quarter" idx="5"/>
          </p:nvPr>
        </p:nvSpPr>
        <p:spPr/>
        <p:txBody>
          <a:bodyPr/>
          <a:lstStyle/>
          <a:p>
            <a:fld id="{B3B937CE-761C-8B43-8D2F-AE1BD0C4B47C}" type="slidenum">
              <a:rPr lang="en-US" smtClean="0"/>
              <a:t>9</a:t>
            </a:fld>
            <a:endParaRPr lang="en-US"/>
          </a:p>
        </p:txBody>
      </p:sp>
    </p:spTree>
    <p:extLst>
      <p:ext uri="{BB962C8B-B14F-4D97-AF65-F5344CB8AC3E}">
        <p14:creationId xmlns:p14="http://schemas.microsoft.com/office/powerpoint/2010/main" val="32422667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This slide is about attribution — understanding exactly why E-MARS performs better. The first comparison, Per-Service SRE versus RGP, shows that simply grouping services — even randomly — provides some benefit. This tells us that coordination has inherent value. But the second comparison is the critical one: RGP versus E-MARS. The substantially larger performance gap here proves that it is not just grouping that matters, but intelligent grouping. Our modularity-based clustering finds groups that reflect the actual communication structure of the system, and that structural awareness is what drives the majority of the performance gain. Finally, the ADAF comparison shows that even a sophisticated AI-driven approach without structural awareness falls short of E-MARS, confirming that graph-based module discovery is the key differentiating factor.</a:t>
            </a:r>
            <a:endParaRPr lang="en-US" dirty="0"/>
          </a:p>
        </p:txBody>
      </p:sp>
      <p:sp>
        <p:nvSpPr>
          <p:cNvPr id="4" name="Slide Number Placeholder 3"/>
          <p:cNvSpPr>
            <a:spLocks noGrp="1"/>
          </p:cNvSpPr>
          <p:nvPr>
            <p:ph type="sldNum" sz="quarter" idx="5"/>
          </p:nvPr>
        </p:nvSpPr>
        <p:spPr/>
        <p:txBody>
          <a:bodyPr/>
          <a:lstStyle/>
          <a:p>
            <a:fld id="{B3B937CE-761C-8B43-8D2F-AE1BD0C4B47C}" type="slidenum">
              <a:rPr lang="en-US" smtClean="0"/>
              <a:t>10</a:t>
            </a:fld>
            <a:endParaRPr lang="en-US"/>
          </a:p>
        </p:txBody>
      </p:sp>
    </p:spTree>
    <p:extLst>
      <p:ext uri="{BB962C8B-B14F-4D97-AF65-F5344CB8AC3E}">
        <p14:creationId xmlns:p14="http://schemas.microsoft.com/office/powerpoint/2010/main" val="32750047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9EA2C-422F-9B92-33A2-D0131D54D3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61B090-9C0D-420B-8E3A-25510DF67F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B02707-4E14-54F5-4668-626F2514525C}"/>
              </a:ext>
            </a:extLst>
          </p:cNvPr>
          <p:cNvSpPr>
            <a:spLocks noGrp="1"/>
          </p:cNvSpPr>
          <p:nvPr>
            <p:ph type="body" idx="1"/>
          </p:nvPr>
        </p:nvSpPr>
        <p:spPr/>
        <p:txBody>
          <a:bodyPr/>
          <a:lstStyle/>
          <a:p>
            <a:r>
              <a:rPr lang="en-IN" dirty="0"/>
              <a:t>Stepping back from the numbers, there are four fundamental reasons why module-aware reliability management works better than per-service approaches. First, fault isolation — when a failure occurs within a module, the module boundary acts as a natural containment zone, preventing propagation to the rest of the system. Second, coordinated scaling — because we scale entire functionally related groups together, we avoid the common problem where scaling one service creates a new bottleneck in a downstream dependent service. Third, observability — module-level dashboards give operators a much cleaner mental model of system health. Instead of monitoring hundreds of individual service dashboards, they monitor a handful of meaningful modules. And fourth, incident response — when something goes wrong, operators can immediately focus on the affected module rather than hunting through hundreds of services to find the root cause.</a:t>
            </a:r>
            <a:endParaRPr lang="en-US" dirty="0"/>
          </a:p>
        </p:txBody>
      </p:sp>
      <p:sp>
        <p:nvSpPr>
          <p:cNvPr id="4" name="Slide Number Placeholder 3">
            <a:extLst>
              <a:ext uri="{FF2B5EF4-FFF2-40B4-BE49-F238E27FC236}">
                <a16:creationId xmlns:a16="http://schemas.microsoft.com/office/drawing/2014/main" id="{D70997A3-663E-09FF-D47E-56CFB0795116}"/>
              </a:ext>
            </a:extLst>
          </p:cNvPr>
          <p:cNvSpPr>
            <a:spLocks noGrp="1"/>
          </p:cNvSpPr>
          <p:nvPr>
            <p:ph type="sldNum" sz="quarter" idx="5"/>
          </p:nvPr>
        </p:nvSpPr>
        <p:spPr/>
        <p:txBody>
          <a:bodyPr/>
          <a:lstStyle/>
          <a:p>
            <a:fld id="{B3B937CE-761C-8B43-8D2F-AE1BD0C4B47C}" type="slidenum">
              <a:rPr lang="en-US" smtClean="0"/>
              <a:t>11</a:t>
            </a:fld>
            <a:endParaRPr lang="en-US"/>
          </a:p>
        </p:txBody>
      </p:sp>
    </p:spTree>
    <p:extLst>
      <p:ext uri="{BB962C8B-B14F-4D97-AF65-F5344CB8AC3E}">
        <p14:creationId xmlns:p14="http://schemas.microsoft.com/office/powerpoint/2010/main" val="38534264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127FD-2F18-031B-67F5-9792AE68C8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E3D1F2-6C6E-DF0D-E19D-A3AE37675F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308636-C92A-E27E-AA12-7426A57D2473}"/>
              </a:ext>
            </a:extLst>
          </p:cNvPr>
          <p:cNvSpPr>
            <a:spLocks noGrp="1"/>
          </p:cNvSpPr>
          <p:nvPr>
            <p:ph type="body" idx="1"/>
          </p:nvPr>
        </p:nvSpPr>
        <p:spPr/>
        <p:txBody>
          <a:bodyPr/>
          <a:lstStyle/>
          <a:p>
            <a:r>
              <a:rPr lang="en-IN" dirty="0"/>
              <a:t>We want to be transparent about the limitations of this work. The most significant is that E-MARS depends heavily on the quality of observability data. If telemetry is incomplete or noisy, the interaction graph will be inaccurate and the clustering results will degrade. There is also a potential stability issue — in systems with very rapidly shifting workloads, module boundaries may need to be recomputed frequently, which introduces overhead. Speaking of overhead, the continuous graph analysis does add computational cost that must be factored into deployment decisions. For future work, our highest priority is validation on real-world datasets such as Alibaba or Google cluster traces, as our current evaluation is entirely synthetic. We also plan to develop online learning adaptations of the RL engine and conduct thorough ablation studies to precisely quantify the contribution of each system component.</a:t>
            </a:r>
            <a:endParaRPr lang="en-US" dirty="0"/>
          </a:p>
        </p:txBody>
      </p:sp>
      <p:sp>
        <p:nvSpPr>
          <p:cNvPr id="4" name="Slide Number Placeholder 3">
            <a:extLst>
              <a:ext uri="{FF2B5EF4-FFF2-40B4-BE49-F238E27FC236}">
                <a16:creationId xmlns:a16="http://schemas.microsoft.com/office/drawing/2014/main" id="{89242FF1-8A36-8932-2672-D5EE383A03CE}"/>
              </a:ext>
            </a:extLst>
          </p:cNvPr>
          <p:cNvSpPr>
            <a:spLocks noGrp="1"/>
          </p:cNvSpPr>
          <p:nvPr>
            <p:ph type="sldNum" sz="quarter" idx="5"/>
          </p:nvPr>
        </p:nvSpPr>
        <p:spPr/>
        <p:txBody>
          <a:bodyPr/>
          <a:lstStyle/>
          <a:p>
            <a:fld id="{B3B937CE-761C-8B43-8D2F-AE1BD0C4B47C}" type="slidenum">
              <a:rPr lang="en-US" smtClean="0"/>
              <a:t>12</a:t>
            </a:fld>
            <a:endParaRPr lang="en-US"/>
          </a:p>
        </p:txBody>
      </p:sp>
    </p:spTree>
    <p:extLst>
      <p:ext uri="{BB962C8B-B14F-4D97-AF65-F5344CB8AC3E}">
        <p14:creationId xmlns:p14="http://schemas.microsoft.com/office/powerpoint/2010/main" val="8136339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AFB6E-F337-3384-3CA2-450105D1BD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77BEED-5C22-2FD4-824D-0AC35BB586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97C234-9AB5-E3B5-CFBF-38E1B31CA782}"/>
              </a:ext>
            </a:extLst>
          </p:cNvPr>
          <p:cNvSpPr>
            <a:spLocks noGrp="1"/>
          </p:cNvSpPr>
          <p:nvPr>
            <p:ph type="body" idx="1"/>
          </p:nvPr>
        </p:nvSpPr>
        <p:spPr/>
        <p:txBody>
          <a:bodyPr/>
          <a:lstStyle/>
          <a:p>
            <a:r>
              <a:rPr lang="en-IN" dirty="0"/>
              <a:t>To conclude — E-MARS demonstrates that emergent modularization, a phenomenon first observed in deep neural networks, can be successfully applied to the very practical problem of microservice reliability management. By automatically discovering the structural modules that already exist in production systems and using them as the fundamental unit of reliability control, E-MARS achieves meaningful improvements across every metric we measured: 39% faster recovery, 39% fewer errors, 28% lower latency, and 15% better resource utilization. Our multi-baseline evaluation design ensures that these gains can be specifically attributed to intelligent graph-based clustering rather than to grouping alone or AI automation alone. We believe this cross-domain insight opens a new direction for intelligent infrastructure management, and we look forward to extending this </a:t>
            </a:r>
            <a:endParaRPr lang="en-US" dirty="0"/>
          </a:p>
        </p:txBody>
      </p:sp>
      <p:sp>
        <p:nvSpPr>
          <p:cNvPr id="4" name="Slide Number Placeholder 3">
            <a:extLst>
              <a:ext uri="{FF2B5EF4-FFF2-40B4-BE49-F238E27FC236}">
                <a16:creationId xmlns:a16="http://schemas.microsoft.com/office/drawing/2014/main" id="{E1F2CB10-AD05-F176-23E9-8139C8DA3122}"/>
              </a:ext>
            </a:extLst>
          </p:cNvPr>
          <p:cNvSpPr>
            <a:spLocks noGrp="1"/>
          </p:cNvSpPr>
          <p:nvPr>
            <p:ph type="sldNum" sz="quarter" idx="5"/>
          </p:nvPr>
        </p:nvSpPr>
        <p:spPr/>
        <p:txBody>
          <a:bodyPr/>
          <a:lstStyle/>
          <a:p>
            <a:fld id="{B3B937CE-761C-8B43-8D2F-AE1BD0C4B47C}" type="slidenum">
              <a:rPr lang="en-US" smtClean="0"/>
              <a:t>13</a:t>
            </a:fld>
            <a:endParaRPr lang="en-US"/>
          </a:p>
        </p:txBody>
      </p:sp>
    </p:spTree>
    <p:extLst>
      <p:ext uri="{BB962C8B-B14F-4D97-AF65-F5344CB8AC3E}">
        <p14:creationId xmlns:p14="http://schemas.microsoft.com/office/powerpoint/2010/main" val="26532275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Thank you very much for your attention. We are happy to take any questions. If you are interested in the implementation details, the full codebase is available, and we are also happy to discuss the mathematical formulations, the RL design, or the experimental setup in more detail. We would particularly welcome feedback on the real-world validation strategy, as that is where we plan to focus next.</a:t>
            </a:r>
            <a:endParaRPr lang="en-US" dirty="0"/>
          </a:p>
        </p:txBody>
      </p:sp>
      <p:sp>
        <p:nvSpPr>
          <p:cNvPr id="4" name="Slide Number Placeholder 3"/>
          <p:cNvSpPr>
            <a:spLocks noGrp="1"/>
          </p:cNvSpPr>
          <p:nvPr>
            <p:ph type="sldNum" sz="quarter" idx="5"/>
          </p:nvPr>
        </p:nvSpPr>
        <p:spPr/>
        <p:txBody>
          <a:bodyPr/>
          <a:lstStyle/>
          <a:p>
            <a:fld id="{B3B937CE-761C-8B43-8D2F-AE1BD0C4B47C}" type="slidenum">
              <a:rPr lang="en-US" smtClean="0"/>
              <a:t>14</a:t>
            </a:fld>
            <a:endParaRPr lang="en-US"/>
          </a:p>
        </p:txBody>
      </p:sp>
    </p:spTree>
    <p:extLst>
      <p:ext uri="{BB962C8B-B14F-4D97-AF65-F5344CB8AC3E}">
        <p14:creationId xmlns:p14="http://schemas.microsoft.com/office/powerpoint/2010/main" val="832343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3000" b="0"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20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5/4/26</a:t>
            </a:fld>
            <a:endParaRPr lang="en-US"/>
          </a:p>
        </p:txBody>
      </p:sp>
      <p:sp>
        <p:nvSpPr>
          <p:cNvPr id="6" name="Holder 6"/>
          <p:cNvSpPr>
            <a:spLocks noGrp="1"/>
          </p:cNvSpPr>
          <p:nvPr>
            <p:ph type="sldNum" sz="quarter" idx="7"/>
          </p:nvPr>
        </p:nvSpPr>
        <p:spPr/>
        <p:txBody>
          <a:bodyPr lIns="0" tIns="0" rIns="0" bIns="0"/>
          <a:lstStyle>
            <a:lvl1pPr>
              <a:defRPr sz="1200" b="1" i="0">
                <a:solidFill>
                  <a:schemeClr val="tx1"/>
                </a:solidFill>
                <a:latin typeface="Calibri"/>
                <a:cs typeface="Calibri"/>
              </a:defRPr>
            </a:lvl1pPr>
          </a:lstStyle>
          <a:p>
            <a:pPr marL="12700">
              <a:lnSpc>
                <a:spcPts val="1240"/>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00" b="0"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5/4/26</a:t>
            </a:fld>
            <a:endParaRPr lang="en-US"/>
          </a:p>
        </p:txBody>
      </p:sp>
      <p:sp>
        <p:nvSpPr>
          <p:cNvPr id="6" name="Holder 6"/>
          <p:cNvSpPr>
            <a:spLocks noGrp="1"/>
          </p:cNvSpPr>
          <p:nvPr>
            <p:ph type="sldNum" sz="quarter" idx="7"/>
          </p:nvPr>
        </p:nvSpPr>
        <p:spPr/>
        <p:txBody>
          <a:bodyPr lIns="0" tIns="0" rIns="0" bIns="0"/>
          <a:lstStyle>
            <a:lvl1pPr>
              <a:defRPr sz="1200" b="1" i="0">
                <a:solidFill>
                  <a:schemeClr val="tx1"/>
                </a:solidFill>
                <a:latin typeface="Calibri"/>
                <a:cs typeface="Calibri"/>
              </a:defRPr>
            </a:lvl1pPr>
          </a:lstStyle>
          <a:p>
            <a:pPr marL="12700">
              <a:lnSpc>
                <a:spcPts val="1240"/>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00" b="0"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5/4/26</a:t>
            </a:fld>
            <a:endParaRPr lang="en-US"/>
          </a:p>
        </p:txBody>
      </p:sp>
      <p:sp>
        <p:nvSpPr>
          <p:cNvPr id="7" name="Holder 7"/>
          <p:cNvSpPr>
            <a:spLocks noGrp="1"/>
          </p:cNvSpPr>
          <p:nvPr>
            <p:ph type="sldNum" sz="quarter" idx="7"/>
          </p:nvPr>
        </p:nvSpPr>
        <p:spPr/>
        <p:txBody>
          <a:bodyPr lIns="0" tIns="0" rIns="0" bIns="0"/>
          <a:lstStyle>
            <a:lvl1pPr>
              <a:defRPr sz="1200" b="1" i="0">
                <a:solidFill>
                  <a:schemeClr val="tx1"/>
                </a:solidFill>
                <a:latin typeface="Calibri"/>
                <a:cs typeface="Calibri"/>
              </a:defRPr>
            </a:lvl1pPr>
          </a:lstStyle>
          <a:p>
            <a:pPr marL="12700">
              <a:lnSpc>
                <a:spcPts val="1240"/>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00" b="0"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5/4/26</a:t>
            </a:fld>
            <a:endParaRPr lang="en-US"/>
          </a:p>
        </p:txBody>
      </p:sp>
      <p:sp>
        <p:nvSpPr>
          <p:cNvPr id="5" name="Holder 5"/>
          <p:cNvSpPr>
            <a:spLocks noGrp="1"/>
          </p:cNvSpPr>
          <p:nvPr>
            <p:ph type="sldNum" sz="quarter" idx="7"/>
          </p:nvPr>
        </p:nvSpPr>
        <p:spPr/>
        <p:txBody>
          <a:bodyPr lIns="0" tIns="0" rIns="0" bIns="0"/>
          <a:lstStyle>
            <a:lvl1pPr>
              <a:defRPr sz="1200" b="1" i="0">
                <a:solidFill>
                  <a:schemeClr val="tx1"/>
                </a:solidFill>
                <a:latin typeface="Calibri"/>
                <a:cs typeface="Calibri"/>
              </a:defRPr>
            </a:lvl1pPr>
          </a:lstStyle>
          <a:p>
            <a:pPr marL="12700">
              <a:lnSpc>
                <a:spcPts val="1240"/>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5/4/26</a:t>
            </a:fld>
            <a:endParaRPr lang="en-US"/>
          </a:p>
        </p:txBody>
      </p:sp>
      <p:sp>
        <p:nvSpPr>
          <p:cNvPr id="4" name="Holder 4"/>
          <p:cNvSpPr>
            <a:spLocks noGrp="1"/>
          </p:cNvSpPr>
          <p:nvPr>
            <p:ph type="sldNum" sz="quarter" idx="7"/>
          </p:nvPr>
        </p:nvSpPr>
        <p:spPr/>
        <p:txBody>
          <a:bodyPr lIns="0" tIns="0" rIns="0" bIns="0"/>
          <a:lstStyle>
            <a:lvl1pPr>
              <a:defRPr sz="1200" b="1" i="0">
                <a:solidFill>
                  <a:schemeClr val="tx1"/>
                </a:solidFill>
                <a:latin typeface="Calibri"/>
                <a:cs typeface="Calibri"/>
              </a:defRPr>
            </a:lvl1pPr>
          </a:lstStyle>
          <a:p>
            <a:pPr marL="12700">
              <a:lnSpc>
                <a:spcPts val="1240"/>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4.jpg"/><Relationship Id="rId4" Type="http://schemas.openxmlformats.org/officeDocument/2006/relationships/slideLayout" Target="../slideLayouts/slideLayout4.xml"/><Relationship Id="rId9" Type="http://schemas.openxmlformats.org/officeDocument/2006/relationships/image" Target="../media/image3.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838200"/>
          </a:xfrm>
          <a:custGeom>
            <a:avLst/>
            <a:gdLst/>
            <a:ahLst/>
            <a:cxnLst/>
            <a:rect l="l" t="t" r="r" b="b"/>
            <a:pathLst>
              <a:path w="9144000" h="838200">
                <a:moveTo>
                  <a:pt x="9144000" y="0"/>
                </a:moveTo>
                <a:lnTo>
                  <a:pt x="0" y="0"/>
                </a:lnTo>
                <a:lnTo>
                  <a:pt x="0" y="838200"/>
                </a:lnTo>
                <a:lnTo>
                  <a:pt x="9144000" y="838200"/>
                </a:lnTo>
                <a:lnTo>
                  <a:pt x="9144000" y="0"/>
                </a:lnTo>
                <a:close/>
              </a:path>
            </a:pathLst>
          </a:custGeom>
          <a:solidFill>
            <a:srgbClr val="FF3300"/>
          </a:solidFill>
        </p:spPr>
        <p:txBody>
          <a:bodyPr wrap="square" lIns="0" tIns="0" rIns="0" bIns="0" rtlCol="0"/>
          <a:lstStyle/>
          <a:p>
            <a:endParaRPr/>
          </a:p>
        </p:txBody>
      </p:sp>
      <p:pic>
        <p:nvPicPr>
          <p:cNvPr id="17" name="bg object 17"/>
          <p:cNvPicPr/>
          <p:nvPr/>
        </p:nvPicPr>
        <p:blipFill>
          <a:blip r:embed="rId7" cstate="print"/>
          <a:stretch>
            <a:fillRect/>
          </a:stretch>
        </p:blipFill>
        <p:spPr>
          <a:xfrm>
            <a:off x="0" y="6696455"/>
            <a:ext cx="9142476" cy="160020"/>
          </a:xfrm>
          <a:prstGeom prst="rect">
            <a:avLst/>
          </a:prstGeom>
        </p:spPr>
      </p:pic>
      <p:pic>
        <p:nvPicPr>
          <p:cNvPr id="18" name="bg object 18"/>
          <p:cNvPicPr/>
          <p:nvPr/>
        </p:nvPicPr>
        <p:blipFill>
          <a:blip r:embed="rId8" cstate="print"/>
          <a:stretch>
            <a:fillRect/>
          </a:stretch>
        </p:blipFill>
        <p:spPr>
          <a:xfrm>
            <a:off x="6553199" y="228600"/>
            <a:ext cx="2057400" cy="633984"/>
          </a:xfrm>
          <a:prstGeom prst="rect">
            <a:avLst/>
          </a:prstGeom>
        </p:spPr>
      </p:pic>
      <p:pic>
        <p:nvPicPr>
          <p:cNvPr id="19" name="bg object 19"/>
          <p:cNvPicPr/>
          <p:nvPr/>
        </p:nvPicPr>
        <p:blipFill>
          <a:blip r:embed="rId9" cstate="print"/>
          <a:stretch>
            <a:fillRect/>
          </a:stretch>
        </p:blipFill>
        <p:spPr>
          <a:xfrm>
            <a:off x="6553199" y="228600"/>
            <a:ext cx="1920240" cy="609600"/>
          </a:xfrm>
          <a:prstGeom prst="rect">
            <a:avLst/>
          </a:prstGeom>
        </p:spPr>
      </p:pic>
      <p:pic>
        <p:nvPicPr>
          <p:cNvPr id="20" name="bg object 20"/>
          <p:cNvPicPr/>
          <p:nvPr/>
        </p:nvPicPr>
        <p:blipFill>
          <a:blip r:embed="rId10" cstate="print"/>
          <a:stretch>
            <a:fillRect/>
          </a:stretch>
        </p:blipFill>
        <p:spPr>
          <a:xfrm>
            <a:off x="6553199" y="228600"/>
            <a:ext cx="2057400" cy="633984"/>
          </a:xfrm>
          <a:prstGeom prst="rect">
            <a:avLst/>
          </a:prstGeom>
        </p:spPr>
      </p:pic>
      <p:sp>
        <p:nvSpPr>
          <p:cNvPr id="21" name="bg object 21"/>
          <p:cNvSpPr/>
          <p:nvPr/>
        </p:nvSpPr>
        <p:spPr>
          <a:xfrm>
            <a:off x="6147815" y="0"/>
            <a:ext cx="2996565" cy="838200"/>
          </a:xfrm>
          <a:custGeom>
            <a:avLst/>
            <a:gdLst/>
            <a:ahLst/>
            <a:cxnLst/>
            <a:rect l="l" t="t" r="r" b="b"/>
            <a:pathLst>
              <a:path w="2996565" h="838200">
                <a:moveTo>
                  <a:pt x="2996184" y="0"/>
                </a:moveTo>
                <a:lnTo>
                  <a:pt x="0" y="0"/>
                </a:lnTo>
                <a:lnTo>
                  <a:pt x="0" y="838200"/>
                </a:lnTo>
                <a:lnTo>
                  <a:pt x="2996184" y="838200"/>
                </a:lnTo>
                <a:lnTo>
                  <a:pt x="2996184" y="0"/>
                </a:lnTo>
                <a:close/>
              </a:path>
            </a:pathLst>
          </a:custGeom>
          <a:solidFill>
            <a:srgbClr val="FF3300"/>
          </a:solidFill>
        </p:spPr>
        <p:txBody>
          <a:bodyPr wrap="square" lIns="0" tIns="0" rIns="0" bIns="0" rtlCol="0"/>
          <a:lstStyle/>
          <a:p>
            <a:endParaRPr/>
          </a:p>
        </p:txBody>
      </p:sp>
      <p:pic>
        <p:nvPicPr>
          <p:cNvPr id="22" name="bg object 22"/>
          <p:cNvPicPr/>
          <p:nvPr/>
        </p:nvPicPr>
        <p:blipFill>
          <a:blip r:embed="rId10" cstate="print"/>
          <a:stretch>
            <a:fillRect/>
          </a:stretch>
        </p:blipFill>
        <p:spPr>
          <a:xfrm>
            <a:off x="6553199" y="228600"/>
            <a:ext cx="2057400" cy="633984"/>
          </a:xfrm>
          <a:prstGeom prst="rect">
            <a:avLst/>
          </a:prstGeom>
        </p:spPr>
      </p:pic>
      <p:sp>
        <p:nvSpPr>
          <p:cNvPr id="23" name="bg object 23"/>
          <p:cNvSpPr/>
          <p:nvPr/>
        </p:nvSpPr>
        <p:spPr>
          <a:xfrm>
            <a:off x="6528815" y="188976"/>
            <a:ext cx="2075814" cy="685800"/>
          </a:xfrm>
          <a:custGeom>
            <a:avLst/>
            <a:gdLst/>
            <a:ahLst/>
            <a:cxnLst/>
            <a:rect l="l" t="t" r="r" b="b"/>
            <a:pathLst>
              <a:path w="2075815" h="685800">
                <a:moveTo>
                  <a:pt x="2075687" y="0"/>
                </a:moveTo>
                <a:lnTo>
                  <a:pt x="0" y="0"/>
                </a:lnTo>
                <a:lnTo>
                  <a:pt x="0" y="685800"/>
                </a:lnTo>
                <a:lnTo>
                  <a:pt x="2075687" y="685800"/>
                </a:lnTo>
                <a:lnTo>
                  <a:pt x="2075687" y="0"/>
                </a:lnTo>
                <a:close/>
              </a:path>
            </a:pathLst>
          </a:custGeom>
          <a:solidFill>
            <a:srgbClr val="FFFFFF"/>
          </a:solidFill>
        </p:spPr>
        <p:txBody>
          <a:bodyPr wrap="square" lIns="0" tIns="0" rIns="0" bIns="0" rtlCol="0"/>
          <a:lstStyle/>
          <a:p>
            <a:endParaRPr/>
          </a:p>
        </p:txBody>
      </p:sp>
      <p:pic>
        <p:nvPicPr>
          <p:cNvPr id="24" name="bg object 24"/>
          <p:cNvPicPr/>
          <p:nvPr/>
        </p:nvPicPr>
        <p:blipFill>
          <a:blip r:embed="rId9" cstate="print"/>
          <a:stretch>
            <a:fillRect/>
          </a:stretch>
        </p:blipFill>
        <p:spPr>
          <a:xfrm>
            <a:off x="6553199" y="228600"/>
            <a:ext cx="1920240" cy="609600"/>
          </a:xfrm>
          <a:prstGeom prst="rect">
            <a:avLst/>
          </a:prstGeom>
        </p:spPr>
      </p:pic>
      <p:sp>
        <p:nvSpPr>
          <p:cNvPr id="2" name="Holder 2"/>
          <p:cNvSpPr>
            <a:spLocks noGrp="1"/>
          </p:cNvSpPr>
          <p:nvPr>
            <p:ph type="title"/>
          </p:nvPr>
        </p:nvSpPr>
        <p:spPr>
          <a:xfrm>
            <a:off x="1367789" y="150063"/>
            <a:ext cx="4161790" cy="512445"/>
          </a:xfrm>
          <a:prstGeom prst="rect">
            <a:avLst/>
          </a:prstGeom>
        </p:spPr>
        <p:txBody>
          <a:bodyPr wrap="square" lIns="0" tIns="0" rIns="0" bIns="0">
            <a:spAutoFit/>
          </a:bodyPr>
          <a:lstStyle>
            <a:lvl1pPr>
              <a:defRPr sz="3000" b="0"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304901" y="1175872"/>
            <a:ext cx="8612505" cy="4657090"/>
          </a:xfrm>
          <a:prstGeom prst="rect">
            <a:avLst/>
          </a:prstGeom>
        </p:spPr>
        <p:txBody>
          <a:bodyPr wrap="square" lIns="0" tIns="0" rIns="0" bIns="0">
            <a:spAutoFit/>
          </a:bodyPr>
          <a:lstStyle>
            <a:lvl1pPr>
              <a:defRPr sz="20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5/4/26</a:t>
            </a:fld>
            <a:endParaRPr lang="en-US"/>
          </a:p>
        </p:txBody>
      </p:sp>
      <p:sp>
        <p:nvSpPr>
          <p:cNvPr id="6" name="Holder 6"/>
          <p:cNvSpPr>
            <a:spLocks noGrp="1"/>
          </p:cNvSpPr>
          <p:nvPr>
            <p:ph type="sldNum" sz="quarter" idx="7"/>
          </p:nvPr>
        </p:nvSpPr>
        <p:spPr>
          <a:xfrm>
            <a:off x="8433054" y="6466738"/>
            <a:ext cx="215900" cy="177800"/>
          </a:xfrm>
          <a:prstGeom prst="rect">
            <a:avLst/>
          </a:prstGeom>
        </p:spPr>
        <p:txBody>
          <a:bodyPr wrap="square" lIns="0" tIns="0" rIns="0" bIns="0">
            <a:spAutoFit/>
          </a:bodyPr>
          <a:lstStyle>
            <a:lvl1pPr>
              <a:defRPr sz="1200" b="1" i="0">
                <a:solidFill>
                  <a:schemeClr val="tx1"/>
                </a:solidFill>
                <a:latin typeface="Calibri"/>
                <a:cs typeface="Calibri"/>
              </a:defRPr>
            </a:lvl1pPr>
          </a:lstStyle>
          <a:p>
            <a:pPr marL="12700">
              <a:lnSpc>
                <a:spcPts val="1240"/>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22830" y="824432"/>
            <a:ext cx="5499100" cy="695960"/>
          </a:xfrm>
          <a:prstGeom prst="rect">
            <a:avLst/>
          </a:prstGeom>
        </p:spPr>
        <p:txBody>
          <a:bodyPr vert="horz" wrap="square" lIns="0" tIns="56515" rIns="0" bIns="0" rtlCol="0">
            <a:spAutoFit/>
          </a:bodyPr>
          <a:lstStyle/>
          <a:p>
            <a:pPr algn="ctr">
              <a:lnSpc>
                <a:spcPct val="100000"/>
              </a:lnSpc>
              <a:spcBef>
                <a:spcPts val="445"/>
              </a:spcBef>
            </a:pPr>
            <a:r>
              <a:rPr sz="1800" dirty="0">
                <a:latin typeface="Times New Roman"/>
                <a:cs typeface="Times New Roman"/>
              </a:rPr>
              <a:t>Project</a:t>
            </a:r>
            <a:r>
              <a:rPr sz="1800" spc="-65" dirty="0">
                <a:latin typeface="Times New Roman"/>
                <a:cs typeface="Times New Roman"/>
              </a:rPr>
              <a:t> </a:t>
            </a:r>
            <a:r>
              <a:rPr sz="1800" dirty="0">
                <a:latin typeface="Times New Roman"/>
                <a:cs typeface="Times New Roman"/>
              </a:rPr>
              <a:t>Presentation</a:t>
            </a:r>
            <a:r>
              <a:rPr sz="1800" spc="-60" dirty="0">
                <a:latin typeface="Times New Roman"/>
                <a:cs typeface="Times New Roman"/>
              </a:rPr>
              <a:t> </a:t>
            </a:r>
            <a:r>
              <a:rPr sz="1800" dirty="0">
                <a:latin typeface="Times New Roman"/>
                <a:cs typeface="Times New Roman"/>
              </a:rPr>
              <a:t>of</a:t>
            </a:r>
            <a:r>
              <a:rPr sz="1800" spc="-45" dirty="0">
                <a:latin typeface="Times New Roman"/>
                <a:cs typeface="Times New Roman"/>
              </a:rPr>
              <a:t> </a:t>
            </a:r>
            <a:r>
              <a:rPr sz="1800" dirty="0">
                <a:latin typeface="Times New Roman"/>
                <a:cs typeface="Times New Roman"/>
              </a:rPr>
              <a:t>Company</a:t>
            </a:r>
            <a:r>
              <a:rPr sz="1800" spc="-10" dirty="0">
                <a:latin typeface="Times New Roman"/>
                <a:cs typeface="Times New Roman"/>
              </a:rPr>
              <a:t> </a:t>
            </a:r>
            <a:r>
              <a:rPr sz="1800" dirty="0">
                <a:latin typeface="Times New Roman"/>
                <a:cs typeface="Times New Roman"/>
              </a:rPr>
              <a:t>Oriented</a:t>
            </a:r>
            <a:r>
              <a:rPr sz="1800" spc="-40" dirty="0">
                <a:latin typeface="Times New Roman"/>
                <a:cs typeface="Times New Roman"/>
              </a:rPr>
              <a:t> </a:t>
            </a:r>
            <a:r>
              <a:rPr sz="1800" dirty="0">
                <a:latin typeface="Times New Roman"/>
                <a:cs typeface="Times New Roman"/>
              </a:rPr>
              <a:t>Project</a:t>
            </a:r>
            <a:r>
              <a:rPr sz="1800" spc="-30" dirty="0">
                <a:latin typeface="Times New Roman"/>
                <a:cs typeface="Times New Roman"/>
              </a:rPr>
              <a:t> </a:t>
            </a:r>
            <a:r>
              <a:rPr sz="1800" spc="-10" dirty="0">
                <a:latin typeface="Arial MT"/>
                <a:cs typeface="Arial MT"/>
              </a:rPr>
              <a:t>(COOP)</a:t>
            </a:r>
            <a:endParaRPr sz="1800" dirty="0">
              <a:latin typeface="Arial MT"/>
              <a:cs typeface="Arial MT"/>
            </a:endParaRPr>
          </a:p>
          <a:p>
            <a:pPr marL="635" algn="ctr">
              <a:lnSpc>
                <a:spcPct val="100000"/>
              </a:lnSpc>
              <a:spcBef>
                <a:spcPts val="375"/>
              </a:spcBef>
            </a:pPr>
            <a:r>
              <a:rPr sz="2000" spc="-25" dirty="0">
                <a:latin typeface="Times New Roman"/>
                <a:cs typeface="Times New Roman"/>
              </a:rPr>
              <a:t>On</a:t>
            </a:r>
            <a:endParaRPr sz="2000" dirty="0">
              <a:latin typeface="Times New Roman"/>
              <a:cs typeface="Times New Roman"/>
            </a:endParaRPr>
          </a:p>
        </p:txBody>
      </p:sp>
      <p:sp>
        <p:nvSpPr>
          <p:cNvPr id="3" name="object 3"/>
          <p:cNvSpPr txBox="1">
            <a:spLocks noGrp="1"/>
          </p:cNvSpPr>
          <p:nvPr>
            <p:ph type="title"/>
          </p:nvPr>
        </p:nvSpPr>
        <p:spPr>
          <a:xfrm>
            <a:off x="457200" y="1520392"/>
            <a:ext cx="8004252" cy="1245213"/>
          </a:xfrm>
          <a:prstGeom prst="rect">
            <a:avLst/>
          </a:prstGeom>
        </p:spPr>
        <p:txBody>
          <a:bodyPr vert="horz" wrap="square" lIns="0" tIns="13970" rIns="0" bIns="0" rtlCol="0">
            <a:spAutoFit/>
          </a:bodyPr>
          <a:lstStyle/>
          <a:p>
            <a:pPr marL="12700" algn="ctr">
              <a:lnSpc>
                <a:spcPct val="100000"/>
              </a:lnSpc>
              <a:spcBef>
                <a:spcPts val="110"/>
              </a:spcBef>
            </a:pPr>
            <a:r>
              <a:rPr lang="en-IN" sz="4000" dirty="0"/>
              <a:t>E-MARS: Emergent Modular Adaptive Reliability System</a:t>
            </a:r>
            <a:endParaRPr sz="4000" dirty="0">
              <a:latin typeface="Times New Roman"/>
              <a:cs typeface="Times New Roman"/>
            </a:endParaRPr>
          </a:p>
        </p:txBody>
      </p:sp>
      <p:sp>
        <p:nvSpPr>
          <p:cNvPr id="4" name="object 4"/>
          <p:cNvSpPr txBox="1"/>
          <p:nvPr/>
        </p:nvSpPr>
        <p:spPr>
          <a:xfrm>
            <a:off x="1446212" y="3048000"/>
            <a:ext cx="6251575" cy="3375667"/>
          </a:xfrm>
          <a:prstGeom prst="rect">
            <a:avLst/>
          </a:prstGeom>
        </p:spPr>
        <p:txBody>
          <a:bodyPr vert="horz" wrap="square" lIns="0" tIns="65404" rIns="0" bIns="0" rtlCol="0">
            <a:spAutoFit/>
          </a:bodyPr>
          <a:lstStyle/>
          <a:p>
            <a:pPr marL="4445" algn="l">
              <a:lnSpc>
                <a:spcPct val="100000"/>
              </a:lnSpc>
              <a:spcBef>
                <a:spcPts val="515"/>
              </a:spcBef>
            </a:pPr>
            <a:r>
              <a:rPr lang="en-US" sz="2000" dirty="0">
                <a:latin typeface="Times New Roman"/>
                <a:cs typeface="Times New Roman"/>
              </a:rPr>
              <a:t>   Harnoor Kaur                                             Rahul Dhiman</a:t>
            </a:r>
            <a:endParaRPr lang="en-IN" sz="2000" dirty="0">
              <a:latin typeface="Times New Roman"/>
              <a:cs typeface="Times New Roman"/>
            </a:endParaRPr>
          </a:p>
          <a:p>
            <a:pPr marL="6350" algn="l">
              <a:lnSpc>
                <a:spcPct val="100000"/>
              </a:lnSpc>
              <a:spcBef>
                <a:spcPts val="409"/>
              </a:spcBef>
            </a:pPr>
            <a:r>
              <a:rPr lang="en-IN" sz="2000" spc="-10" dirty="0">
                <a:latin typeface="Times New Roman"/>
                <a:cs typeface="Times New Roman"/>
              </a:rPr>
              <a:t>    2210990374                                                 2210994825</a:t>
            </a:r>
            <a:endParaRPr lang="en-IN" sz="2000" dirty="0">
              <a:latin typeface="Times New Roman"/>
              <a:cs typeface="Times New Roman"/>
            </a:endParaRPr>
          </a:p>
          <a:p>
            <a:pPr>
              <a:lnSpc>
                <a:spcPct val="100000"/>
              </a:lnSpc>
              <a:spcBef>
                <a:spcPts val="890"/>
              </a:spcBef>
            </a:pPr>
            <a:endParaRPr sz="2000" dirty="0">
              <a:latin typeface="Times New Roman"/>
              <a:cs typeface="Times New Roman"/>
            </a:endParaRPr>
          </a:p>
          <a:p>
            <a:pPr marL="8890" algn="ctr">
              <a:lnSpc>
                <a:spcPct val="100000"/>
              </a:lnSpc>
              <a:spcBef>
                <a:spcPts val="5"/>
              </a:spcBef>
            </a:pPr>
            <a:r>
              <a:rPr sz="2000" dirty="0">
                <a:latin typeface="Times New Roman"/>
                <a:cs typeface="Times New Roman"/>
              </a:rPr>
              <a:t>Supervised</a:t>
            </a:r>
            <a:r>
              <a:rPr sz="2000" spc="-85" dirty="0">
                <a:latin typeface="Times New Roman"/>
                <a:cs typeface="Times New Roman"/>
              </a:rPr>
              <a:t> </a:t>
            </a:r>
            <a:r>
              <a:rPr sz="2000" spc="-25" dirty="0">
                <a:latin typeface="Times New Roman"/>
                <a:cs typeface="Times New Roman"/>
              </a:rPr>
              <a:t>By</a:t>
            </a:r>
            <a:endParaRPr sz="2000" dirty="0">
              <a:latin typeface="Times New Roman"/>
              <a:cs typeface="Times New Roman"/>
            </a:endParaRPr>
          </a:p>
          <a:p>
            <a:pPr marL="8255" algn="ctr">
              <a:lnSpc>
                <a:spcPct val="100000"/>
              </a:lnSpc>
              <a:spcBef>
                <a:spcPts val="405"/>
              </a:spcBef>
            </a:pPr>
            <a:r>
              <a:rPr lang="en-US" sz="2000" spc="-10" dirty="0">
                <a:latin typeface="Times New Roman"/>
                <a:cs typeface="Times New Roman"/>
              </a:rPr>
              <a:t>Dr. Anshu Singla</a:t>
            </a:r>
            <a:endParaRPr sz="2000" dirty="0">
              <a:latin typeface="Times New Roman"/>
              <a:cs typeface="Times New Roman"/>
            </a:endParaRPr>
          </a:p>
          <a:p>
            <a:pPr>
              <a:lnSpc>
                <a:spcPct val="100000"/>
              </a:lnSpc>
            </a:pPr>
            <a:endParaRPr sz="2000" dirty="0">
              <a:latin typeface="Times New Roman"/>
              <a:cs typeface="Times New Roman"/>
            </a:endParaRPr>
          </a:p>
          <a:p>
            <a:pPr>
              <a:lnSpc>
                <a:spcPct val="100000"/>
              </a:lnSpc>
              <a:spcBef>
                <a:spcPts val="975"/>
              </a:spcBef>
            </a:pPr>
            <a:endParaRPr sz="2000" dirty="0">
              <a:latin typeface="Times New Roman"/>
              <a:cs typeface="Times New Roman"/>
            </a:endParaRPr>
          </a:p>
          <a:p>
            <a:pPr marL="12065" marR="5080" algn="ctr">
              <a:lnSpc>
                <a:spcPct val="114300"/>
              </a:lnSpc>
            </a:pPr>
            <a:r>
              <a:rPr sz="2400" dirty="0">
                <a:latin typeface="Times New Roman"/>
                <a:cs typeface="Times New Roman"/>
              </a:rPr>
              <a:t>Department</a:t>
            </a:r>
            <a:r>
              <a:rPr sz="2400" spc="-30" dirty="0">
                <a:latin typeface="Times New Roman"/>
                <a:cs typeface="Times New Roman"/>
              </a:rPr>
              <a:t> </a:t>
            </a:r>
            <a:r>
              <a:rPr sz="2400" dirty="0">
                <a:latin typeface="Times New Roman"/>
                <a:cs typeface="Times New Roman"/>
              </a:rPr>
              <a:t>of</a:t>
            </a:r>
            <a:r>
              <a:rPr sz="2400" spc="-30" dirty="0">
                <a:latin typeface="Times New Roman"/>
                <a:cs typeface="Times New Roman"/>
              </a:rPr>
              <a:t> </a:t>
            </a:r>
            <a:r>
              <a:rPr sz="2400" dirty="0">
                <a:latin typeface="Times New Roman"/>
                <a:cs typeface="Times New Roman"/>
              </a:rPr>
              <a:t>Computer</a:t>
            </a:r>
            <a:r>
              <a:rPr sz="2400" spc="-60" dirty="0">
                <a:latin typeface="Times New Roman"/>
                <a:cs typeface="Times New Roman"/>
              </a:rPr>
              <a:t> </a:t>
            </a:r>
            <a:r>
              <a:rPr sz="2400" dirty="0">
                <a:latin typeface="Times New Roman"/>
                <a:cs typeface="Times New Roman"/>
              </a:rPr>
              <a:t>Science</a:t>
            </a:r>
            <a:r>
              <a:rPr sz="2400" spc="-40" dirty="0">
                <a:latin typeface="Times New Roman"/>
                <a:cs typeface="Times New Roman"/>
              </a:rPr>
              <a:t> </a:t>
            </a:r>
            <a:r>
              <a:rPr sz="2400" dirty="0">
                <a:latin typeface="Times New Roman"/>
                <a:cs typeface="Times New Roman"/>
              </a:rPr>
              <a:t>and</a:t>
            </a:r>
            <a:r>
              <a:rPr sz="2400" spc="-25" dirty="0">
                <a:latin typeface="Times New Roman"/>
                <a:cs typeface="Times New Roman"/>
              </a:rPr>
              <a:t> </a:t>
            </a:r>
            <a:r>
              <a:rPr sz="2400" spc="-10" dirty="0">
                <a:latin typeface="Times New Roman"/>
                <a:cs typeface="Times New Roman"/>
              </a:rPr>
              <a:t>Engineering, </a:t>
            </a:r>
            <a:r>
              <a:rPr sz="2400" dirty="0">
                <a:latin typeface="Times New Roman"/>
                <a:cs typeface="Times New Roman"/>
              </a:rPr>
              <a:t>Chitkara</a:t>
            </a:r>
            <a:r>
              <a:rPr sz="2400" spc="-110" dirty="0">
                <a:latin typeface="Times New Roman"/>
                <a:cs typeface="Times New Roman"/>
              </a:rPr>
              <a:t> </a:t>
            </a:r>
            <a:r>
              <a:rPr sz="2400" spc="-10" dirty="0">
                <a:latin typeface="Times New Roman"/>
                <a:cs typeface="Times New Roman"/>
              </a:rPr>
              <a:t>University, Punjab</a:t>
            </a:r>
            <a:endParaRPr sz="2400" dirty="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150063"/>
            <a:ext cx="5943600" cy="474489"/>
          </a:xfrm>
          <a:prstGeom prst="rect">
            <a:avLst/>
          </a:prstGeom>
        </p:spPr>
        <p:txBody>
          <a:bodyPr vert="horz" wrap="square" lIns="0" tIns="12700" rIns="0" bIns="0" rtlCol="0">
            <a:spAutoFit/>
          </a:bodyPr>
          <a:lstStyle/>
          <a:p>
            <a:pPr marL="12700">
              <a:lnSpc>
                <a:spcPct val="100000"/>
              </a:lnSpc>
              <a:spcBef>
                <a:spcPts val="100"/>
              </a:spcBef>
            </a:pPr>
            <a:r>
              <a:rPr lang="en-US" dirty="0"/>
              <a:t>Problem Statement</a:t>
            </a:r>
            <a:endParaRPr spc="-10" dirty="0"/>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2</a:t>
            </a:fld>
            <a:endParaRPr spc="-25" dirty="0"/>
          </a:p>
        </p:txBody>
      </p:sp>
      <p:sp>
        <p:nvSpPr>
          <p:cNvPr id="9" name="Rectangle 3">
            <a:extLst>
              <a:ext uri="{FF2B5EF4-FFF2-40B4-BE49-F238E27FC236}">
                <a16:creationId xmlns:a16="http://schemas.microsoft.com/office/drawing/2014/main" id="{2F287790-4F09-516D-B9CA-7AA87E8D4CAE}"/>
              </a:ext>
            </a:extLst>
          </p:cNvPr>
          <p:cNvSpPr>
            <a:spLocks noChangeArrowheads="1"/>
          </p:cNvSpPr>
          <p:nvPr/>
        </p:nvSpPr>
        <p:spPr bwMode="auto">
          <a:xfrm>
            <a:off x="533400" y="1600200"/>
            <a:ext cx="8382000"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marL="457200" algn="l" rtl="0" eaLnBrk="0" fontAlgn="base" hangingPunct="0">
              <a:spcBef>
                <a:spcPct val="0"/>
              </a:spcBef>
              <a:spcAft>
                <a:spcPct val="0"/>
              </a:spcAft>
              <a:defRPr>
                <a:solidFill>
                  <a:schemeClr val="tx1"/>
                </a:solidFill>
                <a:latin typeface="Arial" panose="020B0604020202020204" pitchFamily="34" charset="0"/>
              </a:defRPr>
            </a:lvl2pPr>
            <a:lvl3pPr marL="914400" algn="l" rtl="0" eaLnBrk="0" fontAlgn="base" hangingPunct="0">
              <a:spcBef>
                <a:spcPct val="0"/>
              </a:spcBef>
              <a:spcAft>
                <a:spcPct val="0"/>
              </a:spcAft>
              <a:defRPr>
                <a:solidFill>
                  <a:schemeClr val="tx1"/>
                </a:solidFill>
                <a:latin typeface="Arial" panose="020B0604020202020204" pitchFamily="34" charset="0"/>
              </a:defRPr>
            </a:lvl3pPr>
            <a:lvl4pPr marL="1371600" algn="l" rtl="0" eaLnBrk="0" fontAlgn="base" hangingPunct="0">
              <a:spcBef>
                <a:spcPct val="0"/>
              </a:spcBef>
              <a:spcAft>
                <a:spcPct val="0"/>
              </a:spcAft>
              <a:defRPr>
                <a:solidFill>
                  <a:schemeClr val="tx1"/>
                </a:solidFill>
                <a:latin typeface="Arial" panose="020B0604020202020204" pitchFamily="34" charset="0"/>
              </a:defRPr>
            </a:lvl4pPr>
            <a:lvl5pPr marL="1828800" algn="l" rtl="0" eaLnBrk="0" fontAlgn="base" hangingPunct="0">
              <a:spcBef>
                <a:spcPct val="0"/>
              </a:spcBef>
              <a:spcAft>
                <a:spcPct val="0"/>
              </a:spcAft>
              <a:defRPr>
                <a:solidFill>
                  <a:schemeClr val="tx1"/>
                </a:solidFill>
                <a:latin typeface="Arial" panose="020B0604020202020204" pitchFamily="34" charset="0"/>
              </a:defRPr>
            </a:lvl5pPr>
            <a:lvl6pPr marL="2286000" algn="l" rtl="0" eaLnBrk="0" fontAlgn="base" hangingPunct="0">
              <a:spcBef>
                <a:spcPct val="0"/>
              </a:spcBef>
              <a:spcAft>
                <a:spcPct val="0"/>
              </a:spcAft>
              <a:defRPr>
                <a:solidFill>
                  <a:schemeClr val="tx1"/>
                </a:solidFill>
                <a:latin typeface="Arial" panose="020B0604020202020204" pitchFamily="34" charset="0"/>
              </a:defRPr>
            </a:lvl6pPr>
            <a:lvl7pPr marL="2743200" algn="l" rtl="0" eaLnBrk="0" fontAlgn="base" hangingPunct="0">
              <a:spcBef>
                <a:spcPct val="0"/>
              </a:spcBef>
              <a:spcAft>
                <a:spcPct val="0"/>
              </a:spcAft>
              <a:defRPr>
                <a:solidFill>
                  <a:schemeClr val="tx1"/>
                </a:solidFill>
                <a:latin typeface="Arial" panose="020B0604020202020204" pitchFamily="34" charset="0"/>
              </a:defRPr>
            </a:lvl7pPr>
            <a:lvl8pPr marL="3200400" algn="l" rtl="0" eaLnBrk="0" fontAlgn="base" hangingPunct="0">
              <a:spcBef>
                <a:spcPct val="0"/>
              </a:spcBef>
              <a:spcAft>
                <a:spcPct val="0"/>
              </a:spcAft>
              <a:defRPr>
                <a:solidFill>
                  <a:schemeClr val="tx1"/>
                </a:solidFill>
                <a:latin typeface="Arial" panose="020B0604020202020204" pitchFamily="34" charset="0"/>
              </a:defRPr>
            </a:lvl8pPr>
            <a:lvl9pPr marL="3657600"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ysClr val="windowText" lastClr="000000"/>
                </a:solidFill>
                <a:effectLst/>
                <a:uLnTx/>
                <a:uFillTx/>
                <a:latin typeface="Times New Roman"/>
                <a:cs typeface="Times New Roman"/>
              </a:rPr>
              <a:t>Modern cloud-native applications rely on microservice architectures — hundreds of independently deployable services communicating through APIs.</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ysClr val="windowText" lastClr="000000"/>
              </a:solidFill>
              <a:effectLst/>
              <a:uLnTx/>
              <a:uFillTx/>
              <a:latin typeface="Times New Roman"/>
              <a:cs typeface="Times New Roman"/>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ysClr val="windowText" lastClr="000000"/>
                </a:solidFill>
                <a:effectLst/>
                <a:uLnTx/>
                <a:uFillTx/>
                <a:latin typeface="Times New Roman"/>
                <a:cs typeface="Times New Roman"/>
              </a:rPr>
              <a:t>Key Challenges: - Failures cascade through complex service dependency chains - Traditional SRE operates at the individual service level with static thresholds - No awareness of structural dependencies between services - Independent autoscaling causes capacity mismatches and bottlenecks - Static configurations cannot adapt to dynamic workloads</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ysClr val="windowText" lastClr="000000"/>
              </a:solidFill>
              <a:effectLst/>
              <a:uLnTx/>
              <a:uFillTx/>
              <a:latin typeface="Times New Roman"/>
              <a:cs typeface="Times New Roman"/>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ysClr val="windowText" lastClr="000000"/>
                </a:solidFill>
                <a:effectLst/>
                <a:uLnTx/>
                <a:uFillTx/>
                <a:latin typeface="Times New Roman"/>
                <a:cs typeface="Times New Roman"/>
              </a:rPr>
              <a:t>“Current strategies treat services as isolated components, ignoring the emergent dependency structures that define real system behavior.”</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ysClr val="windowText" lastClr="000000"/>
              </a:solidFill>
              <a:effectLst/>
              <a:uLnTx/>
              <a:uFillTx/>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150063"/>
            <a:ext cx="5072379" cy="512445"/>
          </a:xfrm>
        </p:spPr>
        <p:txBody>
          <a:bodyPr vert="horz" wrap="square" lIns="0" tIns="0" rIns="0" bIns="0" rtlCol="0">
            <a:normAutofit/>
          </a:bodyPr>
          <a:lstStyle/>
          <a:p>
            <a:pPr marL="1093470">
              <a:spcBef>
                <a:spcPts val="95"/>
              </a:spcBef>
            </a:pPr>
            <a:r>
              <a:rPr lang="en-IN" dirty="0"/>
              <a:t>Motivation &amp; Inspiration</a:t>
            </a:r>
            <a:endParaRPr lang="en-IN" b="0" i="0" dirty="0">
              <a:latin typeface="Times New Roman"/>
              <a:ea typeface="+mj-ea"/>
              <a:cs typeface="Times New Roman"/>
            </a:endParaRPr>
          </a:p>
        </p:txBody>
      </p:sp>
      <p:sp>
        <p:nvSpPr>
          <p:cNvPr id="3" name="object 3"/>
          <p:cNvSpPr txBox="1"/>
          <p:nvPr/>
        </p:nvSpPr>
        <p:spPr>
          <a:xfrm>
            <a:off x="457200" y="1577340"/>
            <a:ext cx="8458200" cy="4526280"/>
          </a:xfrm>
          <a:prstGeom prst="rect">
            <a:avLst/>
          </a:prstGeom>
        </p:spPr>
        <p:txBody>
          <a:bodyPr vert="horz" wrap="square" lIns="0" tIns="0" rIns="0" bIns="0" rtlCol="0">
            <a:normAutofit/>
          </a:bodyPr>
          <a:lstStyle/>
          <a:p>
            <a:pPr>
              <a:lnSpc>
                <a:spcPct val="90000"/>
              </a:lnSpc>
              <a:spcBef>
                <a:spcPts val="90"/>
              </a:spcBef>
            </a:pPr>
            <a:r>
              <a:rPr lang="en-US" sz="1600" b="1" i="0" dirty="0">
                <a:solidFill>
                  <a:schemeClr val="tx1"/>
                </a:solidFill>
                <a:latin typeface="Times New Roman"/>
                <a:ea typeface="+mn-ea"/>
                <a:cs typeface="Times New Roman"/>
              </a:rPr>
              <a:t>Observation from Deep Learning: </a:t>
            </a:r>
            <a:r>
              <a:rPr lang="en-US" sz="1600" i="0" dirty="0">
                <a:solidFill>
                  <a:schemeClr val="tx1"/>
                </a:solidFill>
                <a:latin typeface="Times New Roman"/>
                <a:ea typeface="+mn-ea"/>
                <a:cs typeface="Times New Roman"/>
              </a:rPr>
              <a:t>- Large-scale neural networks spontaneously develop specialized subnetworks during training — without explicit architectural constraints - Subnetworks specialize in different tasks through emergent modularity</a:t>
            </a:r>
          </a:p>
          <a:p>
            <a:pPr>
              <a:lnSpc>
                <a:spcPct val="90000"/>
              </a:lnSpc>
              <a:spcBef>
                <a:spcPts val="90"/>
              </a:spcBef>
            </a:pPr>
            <a:endParaRPr lang="en-US" sz="1600" i="0" dirty="0">
              <a:solidFill>
                <a:schemeClr val="tx1"/>
              </a:solidFill>
              <a:latin typeface="Times New Roman"/>
              <a:ea typeface="+mn-ea"/>
              <a:cs typeface="Times New Roman"/>
            </a:endParaRPr>
          </a:p>
          <a:p>
            <a:pPr>
              <a:lnSpc>
                <a:spcPct val="90000"/>
              </a:lnSpc>
              <a:spcBef>
                <a:spcPts val="90"/>
              </a:spcBef>
            </a:pPr>
            <a:r>
              <a:rPr lang="en-US" sz="1600" b="1" i="0" dirty="0">
                <a:solidFill>
                  <a:schemeClr val="tx1"/>
                </a:solidFill>
                <a:latin typeface="Times New Roman"/>
                <a:ea typeface="+mn-ea"/>
                <a:cs typeface="Times New Roman"/>
              </a:rPr>
              <a:t>Parallel Observation in Microservices: </a:t>
            </a:r>
            <a:r>
              <a:rPr lang="en-US" sz="1600" i="0" dirty="0">
                <a:solidFill>
                  <a:schemeClr val="tx1"/>
                </a:solidFill>
                <a:latin typeface="Times New Roman"/>
                <a:ea typeface="+mn-ea"/>
                <a:cs typeface="Times New Roman"/>
              </a:rPr>
              <a:t>- Services naturally organize into functional subsystems — authentication, payments, search, recommendation pipelines - These clusters communicate frequently internally but sparsely externally</a:t>
            </a:r>
          </a:p>
          <a:p>
            <a:pPr>
              <a:lnSpc>
                <a:spcPct val="90000"/>
              </a:lnSpc>
              <a:spcBef>
                <a:spcPts val="90"/>
              </a:spcBef>
            </a:pPr>
            <a:endParaRPr lang="en-US" sz="1600" i="0" dirty="0">
              <a:solidFill>
                <a:schemeClr val="tx1"/>
              </a:solidFill>
              <a:latin typeface="Times New Roman"/>
              <a:ea typeface="+mn-ea"/>
              <a:cs typeface="Times New Roman"/>
            </a:endParaRPr>
          </a:p>
          <a:p>
            <a:pPr>
              <a:lnSpc>
                <a:spcPct val="90000"/>
              </a:lnSpc>
              <a:spcBef>
                <a:spcPts val="90"/>
              </a:spcBef>
            </a:pPr>
            <a:r>
              <a:rPr lang="en-US" sz="1600" b="1" i="0" dirty="0">
                <a:solidFill>
                  <a:schemeClr val="tx1"/>
                </a:solidFill>
                <a:latin typeface="Times New Roman"/>
                <a:ea typeface="+mn-ea"/>
                <a:cs typeface="Times New Roman"/>
              </a:rPr>
              <a:t>The Insight: </a:t>
            </a:r>
            <a:r>
              <a:rPr lang="en-US" sz="1600" i="0" dirty="0">
                <a:solidFill>
                  <a:schemeClr val="tx1"/>
                </a:solidFill>
                <a:latin typeface="Times New Roman"/>
                <a:ea typeface="+mn-ea"/>
                <a:cs typeface="Times New Roman"/>
              </a:rPr>
              <a:t>If emergent modularity can be detected and leveraged, it becomes a powerful organizing strategy for adaptive reliability management in cloud-native systems.</a:t>
            </a:r>
          </a:p>
          <a:p>
            <a:pPr>
              <a:lnSpc>
                <a:spcPct val="90000"/>
              </a:lnSpc>
              <a:spcBef>
                <a:spcPts val="90"/>
              </a:spcBef>
            </a:pPr>
            <a:endParaRPr lang="en-US" sz="1600" i="0" dirty="0">
              <a:solidFill>
                <a:schemeClr val="tx1"/>
              </a:solidFill>
              <a:latin typeface="Times New Roman"/>
              <a:ea typeface="+mn-ea"/>
              <a:cs typeface="Times New Roman"/>
            </a:endParaRPr>
          </a:p>
        </p:txBody>
      </p:sp>
      <p:sp>
        <p:nvSpPr>
          <p:cNvPr id="5" name="object 5" hidden="1"/>
          <p:cNvSpPr txBox="1">
            <a:spLocks noGrp="1"/>
          </p:cNvSpPr>
          <p:nvPr>
            <p:ph type="sldNum" sz="quarter" idx="7"/>
          </p:nvPr>
        </p:nvSpPr>
        <p:spPr>
          <a:xfrm>
            <a:off x="8433054" y="6466738"/>
            <a:ext cx="215900" cy="156068"/>
          </a:xfrm>
          <a:prstGeom prst="rect">
            <a:avLst/>
          </a:prstGeom>
        </p:spPr>
        <p:txBody>
          <a:bodyPr vert="horz" wrap="square" lIns="0" tIns="0" rIns="0" bIns="0" rtlCol="0">
            <a:spAutoFit/>
          </a:bodyPr>
          <a:lstStyle/>
          <a:p>
            <a:pPr marL="12700">
              <a:lnSpc>
                <a:spcPts val="1240"/>
              </a:lnSpc>
              <a:spcAft>
                <a:spcPts val="600"/>
              </a:spcAft>
            </a:pPr>
            <a:fld id="{81D60167-4931-47E6-BA6A-407CBD079E47}" type="slidenum">
              <a:rPr spc="-25" dirty="0"/>
              <a:pPr marL="12700">
                <a:lnSpc>
                  <a:spcPts val="1240"/>
                </a:lnSpc>
                <a:spcAft>
                  <a:spcPts val="600"/>
                </a:spcAft>
              </a:pPr>
              <a:t>3</a:t>
            </a:fld>
            <a:endParaRPr lang="en-IN" spc="-2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672465">
              <a:lnSpc>
                <a:spcPct val="100000"/>
              </a:lnSpc>
              <a:spcBef>
                <a:spcPts val="95"/>
              </a:spcBef>
            </a:pPr>
            <a:r>
              <a:rPr lang="en-IN" sz="3200" dirty="0"/>
              <a:t>Objectives</a:t>
            </a:r>
            <a:endParaRPr sz="3200" dirty="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4</a:t>
            </a:fld>
            <a:endParaRPr spc="-25" dirty="0"/>
          </a:p>
        </p:txBody>
      </p:sp>
      <p:sp>
        <p:nvSpPr>
          <p:cNvPr id="3" name="object 3"/>
          <p:cNvSpPr txBox="1"/>
          <p:nvPr/>
        </p:nvSpPr>
        <p:spPr>
          <a:xfrm>
            <a:off x="267335" y="2057400"/>
            <a:ext cx="8609330" cy="1748556"/>
          </a:xfrm>
          <a:prstGeom prst="rect">
            <a:avLst/>
          </a:prstGeom>
        </p:spPr>
        <p:txBody>
          <a:bodyPr vert="horz" wrap="square" lIns="0" tIns="12065" rIns="0" bIns="0" rtlCol="0">
            <a:spAutoFit/>
          </a:bodyPr>
          <a:lstStyle/>
          <a:p>
            <a:pPr marL="457200" lvl="0" indent="-457200">
              <a:buAutoNum type="arabicPeriod"/>
            </a:pPr>
            <a:r>
              <a:rPr lang="en-IN" sz="1600" b="1" dirty="0">
                <a:solidFill>
                  <a:schemeClr val="tx1"/>
                </a:solidFill>
                <a:latin typeface="Times New Roman"/>
                <a:ea typeface="+mn-ea"/>
                <a:cs typeface="Times New Roman"/>
              </a:rPr>
              <a:t>Model</a:t>
            </a:r>
            <a:r>
              <a:rPr lang="en-IN" sz="1600" dirty="0">
                <a:solidFill>
                  <a:schemeClr val="tx1"/>
                </a:solidFill>
                <a:latin typeface="Times New Roman"/>
                <a:ea typeface="+mn-ea"/>
                <a:cs typeface="Times New Roman"/>
              </a:rPr>
              <a:t> microservice systems as weighted interaction graphs</a:t>
            </a:r>
          </a:p>
          <a:p>
            <a:pPr marL="457200" lvl="0" indent="-457200">
              <a:buAutoNum type="arabicPeriod"/>
            </a:pPr>
            <a:r>
              <a:rPr lang="en-IN" sz="1600" b="1" dirty="0">
                <a:solidFill>
                  <a:schemeClr val="tx1"/>
                </a:solidFill>
                <a:latin typeface="Times New Roman"/>
                <a:ea typeface="+mn-ea"/>
                <a:cs typeface="Times New Roman"/>
              </a:rPr>
              <a:t>Discover</a:t>
            </a:r>
            <a:r>
              <a:rPr lang="en-IN" sz="1600" dirty="0">
                <a:solidFill>
                  <a:schemeClr val="tx1"/>
                </a:solidFill>
                <a:latin typeface="Times New Roman"/>
                <a:ea typeface="+mn-ea"/>
                <a:cs typeface="Times New Roman"/>
              </a:rPr>
              <a:t> emergent service modules automatically using modularity-based community detection</a:t>
            </a:r>
          </a:p>
          <a:p>
            <a:pPr marL="457200" lvl="0" indent="-457200">
              <a:buAutoNum type="arabicPeriod"/>
            </a:pPr>
            <a:r>
              <a:rPr lang="en-IN" sz="1600" b="1" dirty="0">
                <a:solidFill>
                  <a:schemeClr val="tx1"/>
                </a:solidFill>
                <a:latin typeface="Times New Roman"/>
                <a:ea typeface="+mn-ea"/>
                <a:cs typeface="Times New Roman"/>
              </a:rPr>
              <a:t>Develop</a:t>
            </a:r>
            <a:r>
              <a:rPr lang="en-IN" sz="1600" dirty="0">
                <a:solidFill>
                  <a:schemeClr val="tx1"/>
                </a:solidFill>
                <a:latin typeface="Times New Roman"/>
                <a:ea typeface="+mn-ea"/>
                <a:cs typeface="Times New Roman"/>
              </a:rPr>
              <a:t> module-aware reliability management policies (autoscaling, fault isolation, traffic routing)</a:t>
            </a:r>
          </a:p>
          <a:p>
            <a:pPr marL="457200" lvl="0" indent="-457200">
              <a:buAutoNum type="arabicPeriod"/>
            </a:pPr>
            <a:r>
              <a:rPr lang="en-IN" sz="1600" b="1" dirty="0">
                <a:solidFill>
                  <a:schemeClr val="tx1"/>
                </a:solidFill>
                <a:latin typeface="Times New Roman"/>
                <a:ea typeface="+mn-ea"/>
                <a:cs typeface="Times New Roman"/>
              </a:rPr>
              <a:t>Improve</a:t>
            </a:r>
            <a:r>
              <a:rPr lang="en-IN" sz="1600" dirty="0">
                <a:solidFill>
                  <a:schemeClr val="tx1"/>
                </a:solidFill>
                <a:latin typeface="Times New Roman"/>
                <a:ea typeface="+mn-ea"/>
                <a:cs typeface="Times New Roman"/>
              </a:rPr>
              <a:t> system reliability — reduce latency, MTTR, and error propagation</a:t>
            </a:r>
          </a:p>
          <a:p>
            <a:pPr marL="457200" lvl="0" indent="-457200">
              <a:buAutoNum type="arabicPeriod"/>
            </a:pPr>
            <a:r>
              <a:rPr lang="en-IN" sz="1600" b="1" dirty="0">
                <a:solidFill>
                  <a:schemeClr val="tx1"/>
                </a:solidFill>
                <a:latin typeface="Times New Roman"/>
                <a:ea typeface="+mn-ea"/>
                <a:cs typeface="Times New Roman"/>
              </a:rPr>
              <a:t>Enhance</a:t>
            </a:r>
            <a:r>
              <a:rPr lang="en-IN" sz="1600" dirty="0">
                <a:solidFill>
                  <a:schemeClr val="tx1"/>
                </a:solidFill>
                <a:latin typeface="Times New Roman"/>
                <a:ea typeface="+mn-ea"/>
                <a:cs typeface="Times New Roman"/>
              </a:rPr>
              <a:t> resource efficiency through coordinated module-level scaling</a:t>
            </a:r>
          </a:p>
          <a:p>
            <a:pPr marL="457200" lvl="0" indent="-457200">
              <a:buAutoNum type="arabicPeriod"/>
            </a:pPr>
            <a:r>
              <a:rPr lang="en-IN" sz="1600" b="1" dirty="0">
                <a:solidFill>
                  <a:schemeClr val="tx1"/>
                </a:solidFill>
                <a:latin typeface="Times New Roman"/>
                <a:ea typeface="+mn-ea"/>
                <a:cs typeface="Times New Roman"/>
              </a:rPr>
              <a:t>Evaluate</a:t>
            </a:r>
            <a:r>
              <a:rPr lang="en-IN" sz="1600" dirty="0">
                <a:solidFill>
                  <a:schemeClr val="tx1"/>
                </a:solidFill>
                <a:latin typeface="Times New Roman"/>
                <a:ea typeface="+mn-ea"/>
                <a:cs typeface="Times New Roman"/>
              </a:rPr>
              <a:t> E-MARS against traditional per-service SRE approaches</a:t>
            </a:r>
          </a:p>
          <a:p>
            <a:pPr marL="1737995">
              <a:lnSpc>
                <a:spcPct val="100000"/>
              </a:lnSpc>
              <a:spcBef>
                <a:spcPts val="95"/>
              </a:spcBef>
            </a:pPr>
            <a:endParaRPr lang="en-US" sz="1600" dirty="0">
              <a:latin typeface="Times New Roman"/>
              <a:cs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150063"/>
            <a:ext cx="5224779" cy="474489"/>
          </a:xfrm>
          <a:prstGeom prst="rect">
            <a:avLst/>
          </a:prstGeom>
        </p:spPr>
        <p:txBody>
          <a:bodyPr vert="horz" wrap="square" lIns="0" tIns="12700" rIns="0" bIns="0" rtlCol="0">
            <a:spAutoFit/>
          </a:bodyPr>
          <a:lstStyle/>
          <a:p>
            <a:pPr marL="894715">
              <a:lnSpc>
                <a:spcPct val="100000"/>
              </a:lnSpc>
              <a:spcBef>
                <a:spcPts val="100"/>
              </a:spcBef>
            </a:pPr>
            <a:r>
              <a:rPr lang="en-US" spc="-10" dirty="0"/>
              <a:t>Methodology Overview</a:t>
            </a:r>
            <a:endParaRPr spc="-10" dirty="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5</a:t>
            </a:fld>
            <a:endParaRPr spc="-25" dirty="0"/>
          </a:p>
        </p:txBody>
      </p:sp>
      <p:sp>
        <p:nvSpPr>
          <p:cNvPr id="3" name="object 3"/>
          <p:cNvSpPr txBox="1"/>
          <p:nvPr/>
        </p:nvSpPr>
        <p:spPr>
          <a:xfrm>
            <a:off x="460044" y="1262968"/>
            <a:ext cx="8460105" cy="2921954"/>
          </a:xfrm>
          <a:prstGeom prst="rect">
            <a:avLst/>
          </a:prstGeom>
        </p:spPr>
        <p:txBody>
          <a:bodyPr vert="horz" wrap="square" lIns="0" tIns="150495" rIns="0" bIns="0" rtlCol="0">
            <a:spAutoFit/>
          </a:bodyPr>
          <a:lstStyle/>
          <a:p>
            <a:pPr marL="0" lvl="0" indent="0">
              <a:buNone/>
            </a:pPr>
            <a:r>
              <a:rPr lang="en-IN" sz="1600" dirty="0">
                <a:solidFill>
                  <a:schemeClr val="tx1"/>
                </a:solidFill>
                <a:latin typeface="Times New Roman"/>
                <a:ea typeface="+mn-ea"/>
                <a:cs typeface="Times New Roman"/>
              </a:rPr>
              <a:t>The E-MARS pipeline consists of four primary stages:</a:t>
            </a:r>
          </a:p>
          <a:p>
            <a:pPr marL="0" lvl="0" indent="0">
              <a:buNone/>
            </a:pPr>
            <a:r>
              <a:rPr lang="en-IN" sz="1600" dirty="0">
                <a:solidFill>
                  <a:schemeClr val="tx1"/>
                </a:solidFill>
                <a:latin typeface="Times New Roman"/>
                <a:ea typeface="+mn-ea"/>
                <a:cs typeface="Times New Roman"/>
              </a:rPr>
              <a:t>Stage 1 — System Observability &amp; Data Collection Collect runtime telemetry: service-to-service traces, latency, throughput, CPU/memory usage, error events using Prometheus and </a:t>
            </a:r>
            <a:r>
              <a:rPr lang="en-IN" sz="1600" dirty="0" err="1">
                <a:solidFill>
                  <a:schemeClr val="tx1"/>
                </a:solidFill>
                <a:latin typeface="Times New Roman"/>
                <a:ea typeface="+mn-ea"/>
                <a:cs typeface="Times New Roman"/>
              </a:rPr>
              <a:t>OpenTelemetry</a:t>
            </a:r>
            <a:r>
              <a:rPr lang="en-IN" sz="1600" dirty="0">
                <a:solidFill>
                  <a:schemeClr val="tx1"/>
                </a:solidFill>
                <a:latin typeface="Times New Roman"/>
                <a:ea typeface="+mn-ea"/>
                <a:cs typeface="Times New Roman"/>
              </a:rPr>
              <a:t>.</a:t>
            </a:r>
          </a:p>
          <a:p>
            <a:pPr marL="0" lvl="0" indent="0">
              <a:buNone/>
            </a:pPr>
            <a:r>
              <a:rPr lang="en-IN" sz="1600" dirty="0">
                <a:solidFill>
                  <a:schemeClr val="tx1"/>
                </a:solidFill>
                <a:latin typeface="Times New Roman"/>
                <a:ea typeface="+mn-ea"/>
                <a:cs typeface="Times New Roman"/>
              </a:rPr>
              <a:t>Stage 2 — Interaction Graph Construction Model the microservice ecosystem as a directed weighted graph G=(V,E) where edge weights combine interaction frequency and latency: </a:t>
            </a:r>
            <a:r>
              <a:rPr lang="en-IN" sz="1600" dirty="0" err="1">
                <a:solidFill>
                  <a:schemeClr val="tx1"/>
                </a:solidFill>
                <a:latin typeface="Times New Roman"/>
                <a:ea typeface="+mn-ea"/>
                <a:cs typeface="Times New Roman"/>
              </a:rPr>
              <a:t>wij</a:t>
            </a:r>
            <a:r>
              <a:rPr lang="en-IN" sz="1600" dirty="0">
                <a:solidFill>
                  <a:schemeClr val="tx1"/>
                </a:solidFill>
                <a:latin typeface="Times New Roman"/>
                <a:ea typeface="+mn-ea"/>
                <a:cs typeface="Times New Roman"/>
              </a:rPr>
              <a:t> = </a:t>
            </a:r>
            <a:r>
              <a:rPr lang="el-GR" sz="1600" dirty="0">
                <a:solidFill>
                  <a:schemeClr val="tx1"/>
                </a:solidFill>
                <a:latin typeface="Times New Roman"/>
                <a:ea typeface="+mn-ea"/>
                <a:cs typeface="Times New Roman"/>
              </a:rPr>
              <a:t>α</a:t>
            </a:r>
            <a:r>
              <a:rPr lang="en-IN" sz="1600" dirty="0" err="1">
                <a:solidFill>
                  <a:schemeClr val="tx1"/>
                </a:solidFill>
                <a:latin typeface="Times New Roman"/>
                <a:ea typeface="+mn-ea"/>
                <a:cs typeface="Times New Roman"/>
              </a:rPr>
              <a:t>fij</a:t>
            </a:r>
            <a:r>
              <a:rPr lang="en-IN" sz="1600" dirty="0">
                <a:solidFill>
                  <a:schemeClr val="tx1"/>
                </a:solidFill>
                <a:latin typeface="Times New Roman"/>
                <a:ea typeface="+mn-ea"/>
                <a:cs typeface="Times New Roman"/>
              </a:rPr>
              <a:t> + </a:t>
            </a:r>
            <a:r>
              <a:rPr lang="el-GR" sz="1600" dirty="0">
                <a:solidFill>
                  <a:schemeClr val="tx1"/>
                </a:solidFill>
                <a:latin typeface="Times New Roman"/>
                <a:ea typeface="+mn-ea"/>
                <a:cs typeface="Times New Roman"/>
              </a:rPr>
              <a:t>β</a:t>
            </a:r>
            <a:r>
              <a:rPr lang="en-IN" sz="1600" dirty="0" err="1">
                <a:solidFill>
                  <a:schemeClr val="tx1"/>
                </a:solidFill>
                <a:latin typeface="Times New Roman"/>
                <a:ea typeface="+mn-ea"/>
                <a:cs typeface="Times New Roman"/>
              </a:rPr>
              <a:t>lij</a:t>
            </a:r>
            <a:endParaRPr lang="en-IN" sz="1600" dirty="0">
              <a:solidFill>
                <a:schemeClr val="tx1"/>
              </a:solidFill>
              <a:latin typeface="Times New Roman"/>
              <a:ea typeface="+mn-ea"/>
              <a:cs typeface="Times New Roman"/>
            </a:endParaRPr>
          </a:p>
          <a:p>
            <a:pPr marL="0" lvl="0" indent="0">
              <a:buNone/>
            </a:pPr>
            <a:r>
              <a:rPr lang="en-IN" sz="1600" dirty="0">
                <a:solidFill>
                  <a:schemeClr val="tx1"/>
                </a:solidFill>
                <a:latin typeface="Times New Roman"/>
                <a:ea typeface="+mn-ea"/>
                <a:cs typeface="Times New Roman"/>
              </a:rPr>
              <a:t>Stage 3 — Emergent Module Detection Apply Louvain-style modularity maximization to discover clusters of tightly coupled services — emergent modules — by maximizing the modularity objective function Q.</a:t>
            </a:r>
          </a:p>
          <a:p>
            <a:pPr marL="0" lvl="0" indent="0">
              <a:buNone/>
            </a:pPr>
            <a:r>
              <a:rPr lang="en-IN" sz="1600" dirty="0">
                <a:solidFill>
                  <a:schemeClr val="tx1"/>
                </a:solidFill>
                <a:latin typeface="Times New Roman"/>
                <a:ea typeface="+mn-ea"/>
                <a:cs typeface="Times New Roman"/>
              </a:rPr>
              <a:t>Stage 4 — Module-Aware Reliability Control Apply coordinated autoscaling, fault isolation, and traffic routing at the module level. Trigger recovery when the module health function falls below the reliability threshold</a:t>
            </a:r>
            <a:r>
              <a:rPr lang="en-IN" sz="2000" dirty="0"/>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18262-E48B-98B0-744C-71206670EB3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37B903C-71F2-97B6-83AC-B57CD36A54D4}"/>
              </a:ext>
            </a:extLst>
          </p:cNvPr>
          <p:cNvSpPr txBox="1">
            <a:spLocks noGrp="1"/>
          </p:cNvSpPr>
          <p:nvPr>
            <p:ph type="title"/>
          </p:nvPr>
        </p:nvSpPr>
        <p:spPr>
          <a:xfrm>
            <a:off x="1367789" y="150063"/>
            <a:ext cx="4161790" cy="474489"/>
          </a:xfrm>
          <a:prstGeom prst="rect">
            <a:avLst/>
          </a:prstGeom>
        </p:spPr>
        <p:txBody>
          <a:bodyPr vert="horz" wrap="square" lIns="0" tIns="12700" rIns="0" bIns="0" rtlCol="0">
            <a:spAutoFit/>
          </a:bodyPr>
          <a:lstStyle/>
          <a:p>
            <a:pPr marL="894715">
              <a:lnSpc>
                <a:spcPct val="100000"/>
              </a:lnSpc>
              <a:spcBef>
                <a:spcPts val="100"/>
              </a:spcBef>
            </a:pPr>
            <a:r>
              <a:rPr lang="en-IN" spc="-10" dirty="0"/>
              <a:t>System Architecture</a:t>
            </a:r>
          </a:p>
        </p:txBody>
      </p:sp>
      <p:sp>
        <p:nvSpPr>
          <p:cNvPr id="4" name="object 4">
            <a:extLst>
              <a:ext uri="{FF2B5EF4-FFF2-40B4-BE49-F238E27FC236}">
                <a16:creationId xmlns:a16="http://schemas.microsoft.com/office/drawing/2014/main" id="{CB1A38F9-4133-68ED-959A-814CE81DF48E}"/>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lang="en-IN" spc="-25" smtClean="0"/>
              <a:t>6</a:t>
            </a:fld>
            <a:endParaRPr lang="en-IN" spc="-25" dirty="0"/>
          </a:p>
        </p:txBody>
      </p:sp>
      <p:sp>
        <p:nvSpPr>
          <p:cNvPr id="3" name="object 3">
            <a:extLst>
              <a:ext uri="{FF2B5EF4-FFF2-40B4-BE49-F238E27FC236}">
                <a16:creationId xmlns:a16="http://schemas.microsoft.com/office/drawing/2014/main" id="{089E1FD5-B42B-5B69-29C2-D2D344582657}"/>
              </a:ext>
            </a:extLst>
          </p:cNvPr>
          <p:cNvSpPr txBox="1"/>
          <p:nvPr/>
        </p:nvSpPr>
        <p:spPr>
          <a:xfrm>
            <a:off x="341947" y="1295400"/>
            <a:ext cx="8460105" cy="2891176"/>
          </a:xfrm>
          <a:prstGeom prst="rect">
            <a:avLst/>
          </a:prstGeom>
        </p:spPr>
        <p:txBody>
          <a:bodyPr vert="horz" wrap="square" lIns="0" tIns="150495" rIns="0" bIns="0" rtlCol="0">
            <a:spAutoFit/>
          </a:bodyPr>
          <a:lstStyle/>
          <a:p>
            <a:pPr marL="0" lvl="0" indent="0">
              <a:buNone/>
            </a:pPr>
            <a:r>
              <a:rPr lang="en-IN" sz="1600" dirty="0">
                <a:solidFill>
                  <a:schemeClr val="tx1"/>
                </a:solidFill>
                <a:latin typeface="Times New Roman"/>
                <a:ea typeface="+mn-ea"/>
                <a:cs typeface="Times New Roman"/>
              </a:rPr>
              <a:t>Four Major Components:</a:t>
            </a:r>
          </a:p>
          <a:p>
            <a:pPr marL="285750" lvl="0" indent="-285750">
              <a:buFont typeface="Arial" panose="020B0604020202020204" pitchFamily="34" charset="0"/>
              <a:buChar char="•"/>
            </a:pPr>
            <a:r>
              <a:rPr lang="en-IN" sz="1600" b="1" dirty="0">
                <a:solidFill>
                  <a:schemeClr val="tx1"/>
                </a:solidFill>
                <a:latin typeface="Times New Roman"/>
                <a:ea typeface="+mn-ea"/>
                <a:cs typeface="Times New Roman"/>
              </a:rPr>
              <a:t>Observability Layer </a:t>
            </a:r>
            <a:r>
              <a:rPr lang="en-IN" sz="1600" dirty="0">
                <a:solidFill>
                  <a:schemeClr val="tx1"/>
                </a:solidFill>
                <a:latin typeface="Times New Roman"/>
                <a:ea typeface="+mn-ea"/>
                <a:cs typeface="Times New Roman"/>
              </a:rPr>
              <a:t>Collects latency metrics, error rates, request traces, and service-to-service call graphs.</a:t>
            </a:r>
          </a:p>
          <a:p>
            <a:pPr marL="285750" lvl="0" indent="-285750">
              <a:buFont typeface="Arial" panose="020B0604020202020204" pitchFamily="34" charset="0"/>
              <a:buChar char="•"/>
            </a:pPr>
            <a:r>
              <a:rPr lang="en-IN" sz="1600" b="1" dirty="0">
                <a:solidFill>
                  <a:schemeClr val="tx1"/>
                </a:solidFill>
                <a:latin typeface="Times New Roman"/>
                <a:ea typeface="+mn-ea"/>
                <a:cs typeface="Times New Roman"/>
              </a:rPr>
              <a:t>Interaction Graph Builder </a:t>
            </a:r>
            <a:r>
              <a:rPr lang="en-IN" sz="1600" dirty="0">
                <a:solidFill>
                  <a:schemeClr val="tx1"/>
                </a:solidFill>
                <a:latin typeface="Times New Roman"/>
                <a:ea typeface="+mn-ea"/>
                <a:cs typeface="Times New Roman"/>
              </a:rPr>
              <a:t>Constructs weighted directed graph from observability data. Edge weight: </a:t>
            </a:r>
            <a:r>
              <a:rPr lang="en-IN" sz="1600" dirty="0" err="1">
                <a:solidFill>
                  <a:schemeClr val="tx1"/>
                </a:solidFill>
                <a:latin typeface="Times New Roman"/>
                <a:ea typeface="+mn-ea"/>
                <a:cs typeface="Times New Roman"/>
              </a:rPr>
              <a:t>wij</a:t>
            </a:r>
            <a:r>
              <a:rPr lang="en-IN" sz="1600" dirty="0">
                <a:solidFill>
                  <a:schemeClr val="tx1"/>
                </a:solidFill>
                <a:latin typeface="Times New Roman"/>
                <a:ea typeface="+mn-ea"/>
                <a:cs typeface="Times New Roman"/>
              </a:rPr>
              <a:t> = </a:t>
            </a:r>
            <a:r>
              <a:rPr lang="el-GR" sz="1600" dirty="0">
                <a:solidFill>
                  <a:schemeClr val="tx1"/>
                </a:solidFill>
                <a:latin typeface="Times New Roman"/>
                <a:ea typeface="+mn-ea"/>
                <a:cs typeface="Times New Roman"/>
              </a:rPr>
              <a:t>α</a:t>
            </a:r>
            <a:r>
              <a:rPr lang="en-IN" sz="1600" dirty="0" err="1">
                <a:solidFill>
                  <a:schemeClr val="tx1"/>
                </a:solidFill>
                <a:latin typeface="Times New Roman"/>
                <a:ea typeface="+mn-ea"/>
                <a:cs typeface="Times New Roman"/>
              </a:rPr>
              <a:t>fij</a:t>
            </a:r>
            <a:r>
              <a:rPr lang="en-IN" sz="1600" dirty="0">
                <a:solidFill>
                  <a:schemeClr val="tx1"/>
                </a:solidFill>
                <a:latin typeface="Times New Roman"/>
                <a:ea typeface="+mn-ea"/>
                <a:cs typeface="Times New Roman"/>
              </a:rPr>
              <a:t> + </a:t>
            </a:r>
            <a:r>
              <a:rPr lang="el-GR" sz="1600" dirty="0">
                <a:solidFill>
                  <a:schemeClr val="tx1"/>
                </a:solidFill>
                <a:latin typeface="Times New Roman"/>
                <a:ea typeface="+mn-ea"/>
                <a:cs typeface="Times New Roman"/>
              </a:rPr>
              <a:t>β</a:t>
            </a:r>
            <a:r>
              <a:rPr lang="en-IN" sz="1600" dirty="0" err="1">
                <a:solidFill>
                  <a:schemeClr val="tx1"/>
                </a:solidFill>
                <a:latin typeface="Times New Roman"/>
                <a:ea typeface="+mn-ea"/>
                <a:cs typeface="Times New Roman"/>
              </a:rPr>
              <a:t>lij</a:t>
            </a:r>
            <a:endParaRPr lang="en-IN" sz="1600" dirty="0">
              <a:solidFill>
                <a:schemeClr val="tx1"/>
              </a:solidFill>
              <a:latin typeface="Times New Roman"/>
              <a:ea typeface="+mn-ea"/>
              <a:cs typeface="Times New Roman"/>
            </a:endParaRPr>
          </a:p>
          <a:p>
            <a:pPr marL="285750" lvl="0" indent="-285750">
              <a:buFont typeface="Arial" panose="020B0604020202020204" pitchFamily="34" charset="0"/>
              <a:buChar char="•"/>
            </a:pPr>
            <a:r>
              <a:rPr lang="en-IN" sz="1600" b="1" dirty="0">
                <a:solidFill>
                  <a:schemeClr val="tx1"/>
                </a:solidFill>
                <a:latin typeface="Times New Roman"/>
                <a:ea typeface="+mn-ea"/>
                <a:cs typeface="Times New Roman"/>
              </a:rPr>
              <a:t>Module Detection Engine </a:t>
            </a:r>
            <a:r>
              <a:rPr lang="en-IN" sz="1600" dirty="0">
                <a:solidFill>
                  <a:schemeClr val="tx1"/>
                </a:solidFill>
                <a:latin typeface="Times New Roman"/>
                <a:ea typeface="+mn-ea"/>
                <a:cs typeface="Times New Roman"/>
              </a:rPr>
              <a:t>Applies modularity-based clustering using the modularity objective function Q. Identifies emergent service modules from the interaction graph.</a:t>
            </a:r>
          </a:p>
          <a:p>
            <a:pPr marL="285750" lvl="0" indent="-285750">
              <a:buFont typeface="Arial" panose="020B0604020202020204" pitchFamily="34" charset="0"/>
              <a:buChar char="•"/>
            </a:pPr>
            <a:r>
              <a:rPr lang="en-IN" sz="1600" b="1" dirty="0">
                <a:solidFill>
                  <a:schemeClr val="tx1"/>
                </a:solidFill>
                <a:latin typeface="Times New Roman"/>
                <a:ea typeface="+mn-ea"/>
                <a:cs typeface="Times New Roman"/>
              </a:rPr>
              <a:t>Reliability Control Engine </a:t>
            </a:r>
            <a:r>
              <a:rPr lang="en-IN" sz="1600" dirty="0">
                <a:solidFill>
                  <a:schemeClr val="tx1"/>
                </a:solidFill>
                <a:latin typeface="Times New Roman"/>
                <a:ea typeface="+mn-ea"/>
                <a:cs typeface="Times New Roman"/>
              </a:rPr>
              <a:t>Implements module-aware policies — autoscaling, fault isolation, and traffic routing. Evaluates module health and triggers coordinated recovery actions.</a:t>
            </a:r>
          </a:p>
          <a:p>
            <a:pPr marL="285750" lvl="0" indent="-285750">
              <a:buFont typeface="Arial" panose="020B0604020202020204" pitchFamily="34" charset="0"/>
              <a:buChar char="•"/>
            </a:pPr>
            <a:r>
              <a:rPr lang="en-IN" sz="1600" b="1" dirty="0">
                <a:solidFill>
                  <a:schemeClr val="tx1"/>
                </a:solidFill>
                <a:latin typeface="Times New Roman"/>
                <a:ea typeface="+mn-ea"/>
                <a:cs typeface="Times New Roman"/>
              </a:rPr>
              <a:t>Reinforcement Learning Engine </a:t>
            </a:r>
            <a:r>
              <a:rPr lang="en-IN" sz="1600" dirty="0">
                <a:solidFill>
                  <a:schemeClr val="tx1"/>
                </a:solidFill>
                <a:latin typeface="Times New Roman"/>
                <a:ea typeface="+mn-ea"/>
                <a:cs typeface="Times New Roman"/>
              </a:rPr>
              <a:t>PPO for strategic module-level autoscaling. DQN for reactive fault isolation and traffic rerouting.</a:t>
            </a:r>
          </a:p>
        </p:txBody>
      </p:sp>
      <p:pic>
        <p:nvPicPr>
          <p:cNvPr id="5" name="Picture 4">
            <a:extLst>
              <a:ext uri="{FF2B5EF4-FFF2-40B4-BE49-F238E27FC236}">
                <a16:creationId xmlns:a16="http://schemas.microsoft.com/office/drawing/2014/main" id="{6C2AE951-9E03-3632-13F1-A098EDE68B94}"/>
              </a:ext>
            </a:extLst>
          </p:cNvPr>
          <p:cNvPicPr>
            <a:picLocks noChangeAspect="1"/>
          </p:cNvPicPr>
          <p:nvPr/>
        </p:nvPicPr>
        <p:blipFill>
          <a:blip r:embed="rId3"/>
          <a:stretch>
            <a:fillRect/>
          </a:stretch>
        </p:blipFill>
        <p:spPr>
          <a:xfrm>
            <a:off x="706894" y="4495800"/>
            <a:ext cx="7700760" cy="1311275"/>
          </a:xfrm>
          <a:prstGeom prst="rect">
            <a:avLst/>
          </a:prstGeom>
        </p:spPr>
      </p:pic>
    </p:spTree>
    <p:extLst>
      <p:ext uri="{BB962C8B-B14F-4D97-AF65-F5344CB8AC3E}">
        <p14:creationId xmlns:p14="http://schemas.microsoft.com/office/powerpoint/2010/main" val="15035371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CD890-9D9B-9E84-245E-76D31ACD959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29E4087-DDE0-2866-EB3E-538A3081EC4A}"/>
              </a:ext>
            </a:extLst>
          </p:cNvPr>
          <p:cNvSpPr txBox="1">
            <a:spLocks noGrp="1"/>
          </p:cNvSpPr>
          <p:nvPr>
            <p:ph type="title"/>
          </p:nvPr>
        </p:nvSpPr>
        <p:spPr>
          <a:xfrm>
            <a:off x="0" y="150063"/>
            <a:ext cx="5529579" cy="474489"/>
          </a:xfrm>
          <a:prstGeom prst="rect">
            <a:avLst/>
          </a:prstGeom>
        </p:spPr>
        <p:txBody>
          <a:bodyPr vert="horz" wrap="square" lIns="0" tIns="12700" rIns="0" bIns="0" rtlCol="0">
            <a:spAutoFit/>
          </a:bodyPr>
          <a:lstStyle/>
          <a:p>
            <a:pPr marL="894715">
              <a:lnSpc>
                <a:spcPct val="100000"/>
              </a:lnSpc>
              <a:spcBef>
                <a:spcPts val="100"/>
              </a:spcBef>
            </a:pPr>
            <a:r>
              <a:rPr lang="en-IN" dirty="0"/>
              <a:t>Module Detection Algorithm</a:t>
            </a:r>
            <a:endParaRPr spc="-10" dirty="0"/>
          </a:p>
        </p:txBody>
      </p:sp>
      <p:sp>
        <p:nvSpPr>
          <p:cNvPr id="4" name="object 4">
            <a:extLst>
              <a:ext uri="{FF2B5EF4-FFF2-40B4-BE49-F238E27FC236}">
                <a16:creationId xmlns:a16="http://schemas.microsoft.com/office/drawing/2014/main" id="{23DF172A-5293-6FA1-5433-A7E4CBC7B12D}"/>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7</a:t>
            </a:fld>
            <a:endParaRPr spc="-25" dirty="0"/>
          </a:p>
        </p:txBody>
      </p:sp>
      <p:sp>
        <p:nvSpPr>
          <p:cNvPr id="6" name="TextBox 5">
            <a:extLst>
              <a:ext uri="{FF2B5EF4-FFF2-40B4-BE49-F238E27FC236}">
                <a16:creationId xmlns:a16="http://schemas.microsoft.com/office/drawing/2014/main" id="{F9CE6AD4-540F-5889-5920-DF86A2FAB954}"/>
              </a:ext>
            </a:extLst>
          </p:cNvPr>
          <p:cNvSpPr txBox="1"/>
          <p:nvPr/>
        </p:nvSpPr>
        <p:spPr>
          <a:xfrm>
            <a:off x="724154" y="1600200"/>
            <a:ext cx="7924800" cy="3970318"/>
          </a:xfrm>
          <a:prstGeom prst="rect">
            <a:avLst/>
          </a:prstGeom>
          <a:noFill/>
        </p:spPr>
        <p:txBody>
          <a:bodyPr wrap="square">
            <a:spAutoFit/>
          </a:bodyPr>
          <a:lstStyle/>
          <a:p>
            <a:pPr marL="0" lvl="0" indent="0">
              <a:buNone/>
            </a:pPr>
            <a:r>
              <a:rPr lang="en-IN" b="1" dirty="0"/>
              <a:t>Algorithm: Greedy Modularity Maximization</a:t>
            </a:r>
          </a:p>
          <a:p>
            <a:pPr lvl="0" indent="0">
              <a:buNone/>
            </a:pPr>
            <a:r>
              <a:rPr lang="en-IN" dirty="0">
                <a:latin typeface="Courier"/>
              </a:rPr>
              <a:t>Input:  Interaction graph G(V, E, w)
Step 1: Initialize each service node as its own community
Step 2: Compute weighted interaction graph from observability data
Step 3: repeat
           For each pair of communities (Ci, </a:t>
            </a:r>
            <a:r>
              <a:rPr lang="en-IN" dirty="0" err="1">
                <a:latin typeface="Courier"/>
              </a:rPr>
              <a:t>Cj</a:t>
            </a:r>
            <a:r>
              <a:rPr lang="en-IN" dirty="0">
                <a:latin typeface="Courier"/>
              </a:rPr>
              <a:t>)
               Compute modularity gain </a:t>
            </a:r>
            <a:r>
              <a:rPr lang="el-GR" dirty="0">
                <a:latin typeface="Courier"/>
              </a:rPr>
              <a:t>Δ</a:t>
            </a:r>
            <a:r>
              <a:rPr lang="en-IN" dirty="0">
                <a:latin typeface="Courier"/>
              </a:rPr>
              <a:t>Q if merged
           Select merge with maximum </a:t>
            </a:r>
            <a:r>
              <a:rPr lang="el-GR" dirty="0">
                <a:latin typeface="Courier"/>
              </a:rPr>
              <a:t>Δ</a:t>
            </a:r>
            <a:r>
              <a:rPr lang="en-IN" dirty="0">
                <a:latin typeface="Courier"/>
              </a:rPr>
              <a:t>Q
           If </a:t>
            </a:r>
            <a:r>
              <a:rPr lang="el-GR" dirty="0">
                <a:latin typeface="Courier"/>
              </a:rPr>
              <a:t>Δ</a:t>
            </a:r>
            <a:r>
              <a:rPr lang="en-IN" dirty="0">
                <a:latin typeface="Courier"/>
              </a:rPr>
              <a:t>Q &gt; threshold → Merge communities
        until no modularity improvement occurs
Step 4: Return final community partition as modules</a:t>
            </a:r>
          </a:p>
          <a:p>
            <a:pPr marL="0" lvl="0" indent="0">
              <a:buNone/>
            </a:pPr>
            <a:r>
              <a:rPr lang="en-IN" b="1" dirty="0"/>
              <a:t>Complexity:</a:t>
            </a:r>
            <a:r>
              <a:rPr lang="en-IN" dirty="0"/>
              <a:t> O(N log N) — scales efficiently to thousands of services.</a:t>
            </a:r>
          </a:p>
        </p:txBody>
      </p:sp>
    </p:spTree>
    <p:extLst>
      <p:ext uri="{BB962C8B-B14F-4D97-AF65-F5344CB8AC3E}">
        <p14:creationId xmlns:p14="http://schemas.microsoft.com/office/powerpoint/2010/main" val="14105801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67789" y="150063"/>
            <a:ext cx="4161790" cy="512445"/>
          </a:xfrm>
        </p:spPr>
        <p:txBody>
          <a:bodyPr vert="horz" wrap="square" lIns="0" tIns="0" rIns="0" bIns="0" rtlCol="0">
            <a:normAutofit/>
          </a:bodyPr>
          <a:lstStyle/>
          <a:p>
            <a:pPr marL="894715">
              <a:spcBef>
                <a:spcPts val="100"/>
              </a:spcBef>
            </a:pPr>
            <a:r>
              <a:rPr lang="en-IN" dirty="0"/>
              <a:t>Experimental Setup</a:t>
            </a:r>
            <a:endParaRPr lang="en-IN" b="0" i="0" spc="-10" dirty="0">
              <a:latin typeface="Times New Roman"/>
              <a:ea typeface="+mj-ea"/>
              <a:cs typeface="Times New Roman"/>
            </a:endParaRPr>
          </a:p>
        </p:txBody>
      </p:sp>
      <p:sp>
        <p:nvSpPr>
          <p:cNvPr id="3" name="object 3"/>
          <p:cNvSpPr txBox="1"/>
          <p:nvPr/>
        </p:nvSpPr>
        <p:spPr>
          <a:xfrm>
            <a:off x="4709160" y="1577340"/>
            <a:ext cx="3977640" cy="4526280"/>
          </a:xfrm>
          <a:prstGeom prst="rect">
            <a:avLst/>
          </a:prstGeom>
        </p:spPr>
        <p:txBody>
          <a:bodyPr vert="horz" wrap="square" lIns="0" tIns="0" rIns="0" bIns="0" rtlCol="0">
            <a:normAutofit/>
          </a:bodyPr>
          <a:lstStyle/>
          <a:p>
            <a:pPr>
              <a:spcBef>
                <a:spcPts val="1085"/>
              </a:spcBef>
            </a:pPr>
            <a:endParaRPr lang="en-US" sz="2000" b="0" i="0" dirty="0">
              <a:solidFill>
                <a:schemeClr val="tx1"/>
              </a:solidFill>
              <a:latin typeface="Times New Roman"/>
              <a:ea typeface="+mn-ea"/>
              <a:cs typeface="Times New Roman"/>
            </a:endParaRPr>
          </a:p>
        </p:txBody>
      </p:sp>
      <p:sp>
        <p:nvSpPr>
          <p:cNvPr id="5" name="object 5" hidden="1"/>
          <p:cNvSpPr txBox="1">
            <a:spLocks noGrp="1"/>
          </p:cNvSpPr>
          <p:nvPr>
            <p:ph type="sldNum" sz="quarter" idx="7"/>
          </p:nvPr>
        </p:nvSpPr>
        <p:spPr>
          <a:xfrm>
            <a:off x="8433054" y="6466738"/>
            <a:ext cx="215900" cy="156068"/>
          </a:xfrm>
          <a:prstGeom prst="rect">
            <a:avLst/>
          </a:prstGeom>
        </p:spPr>
        <p:txBody>
          <a:bodyPr vert="horz" wrap="square" lIns="0" tIns="0" rIns="0" bIns="0" rtlCol="0">
            <a:spAutoFit/>
          </a:bodyPr>
          <a:lstStyle/>
          <a:p>
            <a:pPr marL="12700">
              <a:lnSpc>
                <a:spcPts val="1240"/>
              </a:lnSpc>
              <a:spcAft>
                <a:spcPts val="600"/>
              </a:spcAft>
            </a:pPr>
            <a:fld id="{81D60167-4931-47E6-BA6A-407CBD079E47}" type="slidenum">
              <a:rPr spc="-25" dirty="0"/>
              <a:pPr marL="12700">
                <a:lnSpc>
                  <a:spcPts val="1240"/>
                </a:lnSpc>
                <a:spcAft>
                  <a:spcPts val="600"/>
                </a:spcAft>
              </a:pPr>
              <a:t>8</a:t>
            </a:fld>
            <a:endParaRPr lang="en-IN" spc="-25"/>
          </a:p>
        </p:txBody>
      </p:sp>
      <p:sp>
        <p:nvSpPr>
          <p:cNvPr id="6" name="TextBox 5">
            <a:extLst>
              <a:ext uri="{FF2B5EF4-FFF2-40B4-BE49-F238E27FC236}">
                <a16:creationId xmlns:a16="http://schemas.microsoft.com/office/drawing/2014/main" id="{8ECA232B-CBB9-4032-291E-17B15400913B}"/>
              </a:ext>
            </a:extLst>
          </p:cNvPr>
          <p:cNvSpPr txBox="1"/>
          <p:nvPr/>
        </p:nvSpPr>
        <p:spPr>
          <a:xfrm>
            <a:off x="739141" y="1828800"/>
            <a:ext cx="7391400" cy="2585323"/>
          </a:xfrm>
          <a:prstGeom prst="rect">
            <a:avLst/>
          </a:prstGeom>
          <a:noFill/>
        </p:spPr>
        <p:txBody>
          <a:bodyPr wrap="square">
            <a:spAutoFit/>
          </a:bodyPr>
          <a:lstStyle/>
          <a:p>
            <a:pPr marL="0" lvl="0" indent="0">
              <a:buNone/>
            </a:pPr>
            <a:r>
              <a:rPr lang="en-IN" b="1" dirty="0">
                <a:latin typeface="Times New Roman" panose="02020603050405020304" pitchFamily="18" charset="0"/>
                <a:cs typeface="Times New Roman" panose="02020603050405020304" pitchFamily="18" charset="0"/>
              </a:rPr>
              <a:t>Simulation Environment:</a:t>
            </a:r>
            <a:r>
              <a:rPr lang="en-IN" dirty="0">
                <a:latin typeface="Times New Roman" panose="02020603050405020304" pitchFamily="18" charset="0"/>
                <a:cs typeface="Times New Roman" panose="02020603050405020304" pitchFamily="18" charset="0"/>
              </a:rPr>
              <a:t> - 50 simulated microservices - Workload conditions: burst traffic spikes, service failures, cascading dependency failures - Deployment: Kubernetes-based containerized environment - Dataset: Synthetic microservice workloads</a:t>
            </a:r>
          </a:p>
          <a:p>
            <a:pPr marL="0" lvl="0" indent="0">
              <a:buNone/>
            </a:pPr>
            <a:r>
              <a:rPr lang="en-IN" b="1" dirty="0">
                <a:latin typeface="Times New Roman" panose="02020603050405020304" pitchFamily="18" charset="0"/>
                <a:cs typeface="Times New Roman" panose="02020603050405020304" pitchFamily="18" charset="0"/>
              </a:rPr>
              <a:t>Four Configurations Compared:</a:t>
            </a:r>
            <a:r>
              <a:rPr lang="en-IN" dirty="0">
                <a:latin typeface="Times New Roman" panose="02020603050405020304" pitchFamily="18" charset="0"/>
                <a:cs typeface="Times New Roman" panose="02020603050405020304" pitchFamily="18" charset="0"/>
              </a:rPr>
              <a:t> 1. Per-Service SRE (Baseline) 2. Random Graph Partitioning (RGP) 3. ADAF-Style AI-Driven Automation 4. </a:t>
            </a:r>
            <a:r>
              <a:rPr lang="en-IN" b="1" dirty="0">
                <a:latin typeface="Times New Roman" panose="02020603050405020304" pitchFamily="18" charset="0"/>
                <a:cs typeface="Times New Roman" panose="02020603050405020304" pitchFamily="18" charset="0"/>
              </a:rPr>
              <a:t>E-MARS Module-Aware SRE</a:t>
            </a:r>
          </a:p>
          <a:p>
            <a:pPr marL="0" lvl="0" indent="0">
              <a:buNone/>
            </a:pPr>
            <a:r>
              <a:rPr lang="en-IN" b="1" dirty="0">
                <a:latin typeface="Times New Roman" panose="02020603050405020304" pitchFamily="18" charset="0"/>
                <a:cs typeface="Times New Roman" panose="02020603050405020304" pitchFamily="18" charset="0"/>
              </a:rPr>
              <a:t>Evaluation Metrics:</a:t>
            </a:r>
            <a:r>
              <a:rPr lang="en-IN" dirty="0">
                <a:latin typeface="Times New Roman" panose="02020603050405020304" pitchFamily="18" charset="0"/>
                <a:cs typeface="Times New Roman" panose="02020603050405020304" pitchFamily="18" charset="0"/>
              </a:rPr>
              <a:t> Mean Request Latency, System Throughput, Failure Propagation Index, Resource Efficiency, Mean Time to Recovery (MTTR)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18AEF-225B-5F19-DAF1-97728114CFC5}"/>
              </a:ext>
            </a:extLst>
          </p:cNvPr>
          <p:cNvSpPr>
            <a:spLocks noGrp="1"/>
          </p:cNvSpPr>
          <p:nvPr>
            <p:ph type="title"/>
          </p:nvPr>
        </p:nvSpPr>
        <p:spPr>
          <a:xfrm>
            <a:off x="1367789" y="150063"/>
            <a:ext cx="4161790" cy="461665"/>
          </a:xfrm>
        </p:spPr>
        <p:txBody>
          <a:bodyPr/>
          <a:lstStyle/>
          <a:p>
            <a:r>
              <a:rPr lang="en-US" spc="-10" dirty="0"/>
              <a:t>Results</a:t>
            </a:r>
            <a:endParaRPr lang="en-US" dirty="0"/>
          </a:p>
        </p:txBody>
      </p:sp>
      <p:sp>
        <p:nvSpPr>
          <p:cNvPr id="5" name="Slide Number Placeholder 4">
            <a:extLst>
              <a:ext uri="{FF2B5EF4-FFF2-40B4-BE49-F238E27FC236}">
                <a16:creationId xmlns:a16="http://schemas.microsoft.com/office/drawing/2014/main" id="{CAB90034-FDE2-7E04-372E-90DCB87325D8}"/>
              </a:ext>
            </a:extLst>
          </p:cNvPr>
          <p:cNvSpPr>
            <a:spLocks noGrp="1"/>
          </p:cNvSpPr>
          <p:nvPr>
            <p:ph type="sldNum" sz="quarter" idx="7"/>
          </p:nvPr>
        </p:nvSpPr>
        <p:spPr/>
        <p:txBody>
          <a:bodyPr/>
          <a:lstStyle/>
          <a:p>
            <a:pPr marL="12700">
              <a:lnSpc>
                <a:spcPts val="1240"/>
              </a:lnSpc>
            </a:pPr>
            <a:fld id="{81D60167-4931-47E6-BA6A-407CBD079E47}" type="slidenum">
              <a:rPr lang="en-IN" spc="-25" smtClean="0"/>
              <a:t>9</a:t>
            </a:fld>
            <a:endParaRPr lang="en-IN" spc="-25" dirty="0"/>
          </a:p>
        </p:txBody>
      </p:sp>
      <p:graphicFrame>
        <p:nvGraphicFramePr>
          <p:cNvPr id="3" name="Content Placeholder 5">
            <a:extLst>
              <a:ext uri="{FF2B5EF4-FFF2-40B4-BE49-F238E27FC236}">
                <a16:creationId xmlns:a16="http://schemas.microsoft.com/office/drawing/2014/main" id="{2F7BD34D-BD36-DA78-4009-762239401101}"/>
              </a:ext>
            </a:extLst>
          </p:cNvPr>
          <p:cNvGraphicFramePr>
            <a:graphicFrameLocks/>
          </p:cNvGraphicFramePr>
          <p:nvPr>
            <p:extLst>
              <p:ext uri="{D42A27DB-BD31-4B8C-83A1-F6EECF244321}">
                <p14:modId xmlns:p14="http://schemas.microsoft.com/office/powerpoint/2010/main" val="606859297"/>
              </p:ext>
            </p:extLst>
          </p:nvPr>
        </p:nvGraphicFramePr>
        <p:xfrm>
          <a:off x="254000" y="1429303"/>
          <a:ext cx="8636000" cy="3291840"/>
        </p:xfrm>
        <a:graphic>
          <a:graphicData uri="http://schemas.openxmlformats.org/drawingml/2006/table">
            <a:tbl>
              <a:tblPr firstRow="1" bandRow="1">
                <a:tableStyleId>{5C22544A-7EE6-4342-B048-85BDC9FD1C3A}</a:tableStyleId>
              </a:tblPr>
              <a:tblGrid>
                <a:gridCol w="1727200">
                  <a:extLst>
                    <a:ext uri="{9D8B030D-6E8A-4147-A177-3AD203B41FA5}">
                      <a16:colId xmlns:a16="http://schemas.microsoft.com/office/drawing/2014/main" val="20000"/>
                    </a:ext>
                  </a:extLst>
                </a:gridCol>
                <a:gridCol w="1727200">
                  <a:extLst>
                    <a:ext uri="{9D8B030D-6E8A-4147-A177-3AD203B41FA5}">
                      <a16:colId xmlns:a16="http://schemas.microsoft.com/office/drawing/2014/main" val="20001"/>
                    </a:ext>
                  </a:extLst>
                </a:gridCol>
                <a:gridCol w="1727200">
                  <a:extLst>
                    <a:ext uri="{9D8B030D-6E8A-4147-A177-3AD203B41FA5}">
                      <a16:colId xmlns:a16="http://schemas.microsoft.com/office/drawing/2014/main" val="20002"/>
                    </a:ext>
                  </a:extLst>
                </a:gridCol>
                <a:gridCol w="1727200">
                  <a:extLst>
                    <a:ext uri="{9D8B030D-6E8A-4147-A177-3AD203B41FA5}">
                      <a16:colId xmlns:a16="http://schemas.microsoft.com/office/drawing/2014/main" val="20003"/>
                    </a:ext>
                  </a:extLst>
                </a:gridCol>
                <a:gridCol w="1727200">
                  <a:extLst>
                    <a:ext uri="{9D8B030D-6E8A-4147-A177-3AD203B41FA5}">
                      <a16:colId xmlns:a16="http://schemas.microsoft.com/office/drawing/2014/main" val="20004"/>
                    </a:ext>
                  </a:extLst>
                </a:gridCol>
              </a:tblGrid>
              <a:tr h="0">
                <a:tc>
                  <a:txBody>
                    <a:bodyPr/>
                    <a:lstStyle/>
                    <a:p>
                      <a:pPr marL="0" lvl="0" indent="0">
                        <a:buNone/>
                      </a:pPr>
                      <a:r>
                        <a:t>Metric</a:t>
                      </a:r>
                    </a:p>
                  </a:txBody>
                  <a:tcPr/>
                </a:tc>
                <a:tc>
                  <a:txBody>
                    <a:bodyPr/>
                    <a:lstStyle/>
                    <a:p>
                      <a:pPr marL="0" lvl="0" indent="0">
                        <a:buNone/>
                      </a:pPr>
                      <a:r>
                        <a:rPr dirty="0"/>
                        <a:t>Per-Service SRE</a:t>
                      </a:r>
                    </a:p>
                  </a:txBody>
                  <a:tcPr/>
                </a:tc>
                <a:tc>
                  <a:txBody>
                    <a:bodyPr/>
                    <a:lstStyle/>
                    <a:p>
                      <a:pPr marL="0" lvl="0" indent="0">
                        <a:buNone/>
                      </a:pPr>
                      <a:r>
                        <a:t>Random Partitioning</a:t>
                      </a:r>
                    </a:p>
                  </a:txBody>
                  <a:tcPr/>
                </a:tc>
                <a:tc>
                  <a:txBody>
                    <a:bodyPr/>
                    <a:lstStyle/>
                    <a:p>
                      <a:pPr marL="0" lvl="0" indent="0">
                        <a:buNone/>
                      </a:pPr>
                      <a:r>
                        <a:t>ADAF</a:t>
                      </a:r>
                    </a:p>
                  </a:txBody>
                  <a:tcPr/>
                </a:tc>
                <a:tc>
                  <a:txBody>
                    <a:bodyPr/>
                    <a:lstStyle/>
                    <a:p>
                      <a:pPr marL="0" lvl="0" indent="0">
                        <a:buNone/>
                      </a:pPr>
                      <a:r>
                        <a:rPr b="1"/>
                        <a:t>E-MARS</a:t>
                      </a:r>
                    </a:p>
                  </a:txBody>
                  <a:tcPr/>
                </a:tc>
                <a:extLst>
                  <a:ext uri="{0D108BD9-81ED-4DB2-BD59-A6C34878D82A}">
                    <a16:rowId xmlns:a16="http://schemas.microsoft.com/office/drawing/2014/main" val="10000"/>
                  </a:ext>
                </a:extLst>
              </a:tr>
              <a:tr h="0">
                <a:tc>
                  <a:txBody>
                    <a:bodyPr/>
                    <a:lstStyle/>
                    <a:p>
                      <a:pPr marL="0" lvl="0" indent="0">
                        <a:buNone/>
                      </a:pPr>
                      <a:r>
                        <a:t>MTTR (min)</a:t>
                      </a:r>
                    </a:p>
                  </a:txBody>
                  <a:tcPr/>
                </a:tc>
                <a:tc>
                  <a:txBody>
                    <a:bodyPr/>
                    <a:lstStyle/>
                    <a:p>
                      <a:pPr marL="0" lvl="0" indent="0">
                        <a:buNone/>
                      </a:pPr>
                      <a:r>
                        <a:t>18</a:t>
                      </a:r>
                    </a:p>
                  </a:txBody>
                  <a:tcPr/>
                </a:tc>
                <a:tc>
                  <a:txBody>
                    <a:bodyPr/>
                    <a:lstStyle/>
                    <a:p>
                      <a:pPr marL="0" lvl="0" indent="0">
                        <a:buNone/>
                      </a:pPr>
                      <a:r>
                        <a:t>~15</a:t>
                      </a:r>
                    </a:p>
                  </a:txBody>
                  <a:tcPr/>
                </a:tc>
                <a:tc>
                  <a:txBody>
                    <a:bodyPr/>
                    <a:lstStyle/>
                    <a:p>
                      <a:pPr marL="0" lvl="0" indent="0">
                        <a:buNone/>
                      </a:pPr>
                      <a:r>
                        <a:t>~13</a:t>
                      </a:r>
                    </a:p>
                  </a:txBody>
                  <a:tcPr/>
                </a:tc>
                <a:tc>
                  <a:txBody>
                    <a:bodyPr/>
                    <a:lstStyle/>
                    <a:p>
                      <a:pPr marL="0" lvl="0" indent="0">
                        <a:buNone/>
                      </a:pPr>
                      <a:r>
                        <a:rPr b="1"/>
                        <a:t>11</a:t>
                      </a:r>
                    </a:p>
                  </a:txBody>
                  <a:tcPr/>
                </a:tc>
                <a:extLst>
                  <a:ext uri="{0D108BD9-81ED-4DB2-BD59-A6C34878D82A}">
                    <a16:rowId xmlns:a16="http://schemas.microsoft.com/office/drawing/2014/main" val="10001"/>
                  </a:ext>
                </a:extLst>
              </a:tr>
              <a:tr h="0">
                <a:tc>
                  <a:txBody>
                    <a:bodyPr/>
                    <a:lstStyle/>
                    <a:p>
                      <a:pPr marL="0" lvl="0" indent="0">
                        <a:buNone/>
                      </a:pPr>
                      <a:r>
                        <a:t>Error Rate (%)</a:t>
                      </a:r>
                    </a:p>
                  </a:txBody>
                  <a:tcPr/>
                </a:tc>
                <a:tc>
                  <a:txBody>
                    <a:bodyPr/>
                    <a:lstStyle/>
                    <a:p>
                      <a:pPr marL="0" lvl="0" indent="0">
                        <a:buNone/>
                      </a:pPr>
                      <a:r>
                        <a:t>2.3</a:t>
                      </a:r>
                    </a:p>
                  </a:txBody>
                  <a:tcPr/>
                </a:tc>
                <a:tc>
                  <a:txBody>
                    <a:bodyPr/>
                    <a:lstStyle/>
                    <a:p>
                      <a:pPr marL="0" lvl="0" indent="0">
                        <a:buNone/>
                      </a:pPr>
                      <a:r>
                        <a:t>~2.0</a:t>
                      </a:r>
                    </a:p>
                  </a:txBody>
                  <a:tcPr/>
                </a:tc>
                <a:tc>
                  <a:txBody>
                    <a:bodyPr/>
                    <a:lstStyle/>
                    <a:p>
                      <a:pPr marL="0" lvl="0" indent="0">
                        <a:buNone/>
                      </a:pPr>
                      <a:r>
                        <a:t>~1.8</a:t>
                      </a:r>
                    </a:p>
                  </a:txBody>
                  <a:tcPr/>
                </a:tc>
                <a:tc>
                  <a:txBody>
                    <a:bodyPr/>
                    <a:lstStyle/>
                    <a:p>
                      <a:pPr marL="0" lvl="0" indent="0">
                        <a:buNone/>
                      </a:pPr>
                      <a:r>
                        <a:rPr b="1"/>
                        <a:t>1.4</a:t>
                      </a:r>
                    </a:p>
                  </a:txBody>
                  <a:tcPr/>
                </a:tc>
                <a:extLst>
                  <a:ext uri="{0D108BD9-81ED-4DB2-BD59-A6C34878D82A}">
                    <a16:rowId xmlns:a16="http://schemas.microsoft.com/office/drawing/2014/main" val="10002"/>
                  </a:ext>
                </a:extLst>
              </a:tr>
              <a:tr h="0">
                <a:tc>
                  <a:txBody>
                    <a:bodyPr/>
                    <a:lstStyle/>
                    <a:p>
                      <a:pPr marL="0" lvl="0" indent="0">
                        <a:buNone/>
                      </a:pPr>
                      <a:r>
                        <a:t>Resource Utilization (%)</a:t>
                      </a:r>
                    </a:p>
                  </a:txBody>
                  <a:tcPr/>
                </a:tc>
                <a:tc>
                  <a:txBody>
                    <a:bodyPr/>
                    <a:lstStyle/>
                    <a:p>
                      <a:pPr marL="0" lvl="0" indent="0">
                        <a:buNone/>
                      </a:pPr>
                      <a:r>
                        <a:t>63</a:t>
                      </a:r>
                    </a:p>
                  </a:txBody>
                  <a:tcPr/>
                </a:tc>
                <a:tc>
                  <a:txBody>
                    <a:bodyPr/>
                    <a:lstStyle/>
                    <a:p>
                      <a:pPr marL="0" lvl="0" indent="0">
                        <a:buNone/>
                      </a:pPr>
                      <a:r>
                        <a:t>~68</a:t>
                      </a:r>
                    </a:p>
                  </a:txBody>
                  <a:tcPr/>
                </a:tc>
                <a:tc>
                  <a:txBody>
                    <a:bodyPr/>
                    <a:lstStyle/>
                    <a:p>
                      <a:pPr marL="0" lvl="0" indent="0">
                        <a:buNone/>
                      </a:pPr>
                      <a:r>
                        <a:t>~72</a:t>
                      </a:r>
                    </a:p>
                  </a:txBody>
                  <a:tcPr/>
                </a:tc>
                <a:tc>
                  <a:txBody>
                    <a:bodyPr/>
                    <a:lstStyle/>
                    <a:p>
                      <a:pPr marL="0" lvl="0" indent="0">
                        <a:buNone/>
                      </a:pPr>
                      <a:r>
                        <a:rPr b="1"/>
                        <a:t>78</a:t>
                      </a:r>
                    </a:p>
                  </a:txBody>
                  <a:tcPr/>
                </a:tc>
                <a:extLst>
                  <a:ext uri="{0D108BD9-81ED-4DB2-BD59-A6C34878D82A}">
                    <a16:rowId xmlns:a16="http://schemas.microsoft.com/office/drawing/2014/main" val="10003"/>
                  </a:ext>
                </a:extLst>
              </a:tr>
              <a:tr h="0">
                <a:tc>
                  <a:txBody>
                    <a:bodyPr/>
                    <a:lstStyle/>
                    <a:p>
                      <a:pPr marL="0" lvl="0" indent="0">
                        <a:buNone/>
                      </a:pPr>
                      <a:r>
                        <a:t>Mean Latency Reduction</a:t>
                      </a:r>
                    </a:p>
                  </a:txBody>
                  <a:tcPr/>
                </a:tc>
                <a:tc>
                  <a:txBody>
                    <a:bodyPr/>
                    <a:lstStyle/>
                    <a:p>
                      <a:pPr marL="0" lvl="0" indent="0">
                        <a:buNone/>
                      </a:pPr>
                      <a:r>
                        <a:t>—</a:t>
                      </a:r>
                    </a:p>
                  </a:txBody>
                  <a:tcPr/>
                </a:tc>
                <a:tc>
                  <a:txBody>
                    <a:bodyPr/>
                    <a:lstStyle/>
                    <a:p>
                      <a:pPr marL="0" lvl="0" indent="0">
                        <a:buNone/>
                      </a:pPr>
                      <a:r>
                        <a:t>~10%</a:t>
                      </a:r>
                    </a:p>
                  </a:txBody>
                  <a:tcPr/>
                </a:tc>
                <a:tc>
                  <a:txBody>
                    <a:bodyPr/>
                    <a:lstStyle/>
                    <a:p>
                      <a:pPr marL="0" lvl="0" indent="0">
                        <a:buNone/>
                      </a:pPr>
                      <a:r>
                        <a:t>~18%</a:t>
                      </a:r>
                    </a:p>
                  </a:txBody>
                  <a:tcPr/>
                </a:tc>
                <a:tc>
                  <a:txBody>
                    <a:bodyPr/>
                    <a:lstStyle/>
                    <a:p>
                      <a:pPr marL="0" lvl="0" indent="0">
                        <a:buNone/>
                      </a:pPr>
                      <a:r>
                        <a:rPr b="1"/>
                        <a:t>28%</a:t>
                      </a:r>
                    </a:p>
                  </a:txBody>
                  <a:tcPr/>
                </a:tc>
                <a:extLst>
                  <a:ext uri="{0D108BD9-81ED-4DB2-BD59-A6C34878D82A}">
                    <a16:rowId xmlns:a16="http://schemas.microsoft.com/office/drawing/2014/main" val="10004"/>
                  </a:ext>
                </a:extLst>
              </a:tr>
              <a:tr h="0">
                <a:tc>
                  <a:txBody>
                    <a:bodyPr/>
                    <a:lstStyle/>
                    <a:p>
                      <a:pPr marL="0" lvl="0" indent="0">
                        <a:buNone/>
                      </a:pPr>
                      <a:r>
                        <a:t>Failure Propagation</a:t>
                      </a:r>
                    </a:p>
                  </a:txBody>
                  <a:tcPr/>
                </a:tc>
                <a:tc>
                  <a:txBody>
                    <a:bodyPr/>
                    <a:lstStyle/>
                    <a:p>
                      <a:pPr marL="0" lvl="0" indent="0">
                        <a:buNone/>
                      </a:pPr>
                      <a:r>
                        <a:t>High</a:t>
                      </a:r>
                    </a:p>
                  </a:txBody>
                  <a:tcPr/>
                </a:tc>
                <a:tc>
                  <a:txBody>
                    <a:bodyPr/>
                    <a:lstStyle/>
                    <a:p>
                      <a:pPr marL="0" lvl="0" indent="0">
                        <a:buNone/>
                      </a:pPr>
                      <a:r>
                        <a:t>Moderate</a:t>
                      </a:r>
                    </a:p>
                  </a:txBody>
                  <a:tcPr/>
                </a:tc>
                <a:tc>
                  <a:txBody>
                    <a:bodyPr/>
                    <a:lstStyle/>
                    <a:p>
                      <a:pPr marL="0" lvl="0" indent="0">
                        <a:buNone/>
                      </a:pPr>
                      <a:r>
                        <a:t>Low-Moderate</a:t>
                      </a:r>
                    </a:p>
                  </a:txBody>
                  <a:tcPr/>
                </a:tc>
                <a:tc>
                  <a:txBody>
                    <a:bodyPr/>
                    <a:lstStyle/>
                    <a:p>
                      <a:pPr marL="0" lvl="0" indent="0">
                        <a:buNone/>
                      </a:pPr>
                      <a:r>
                        <a:rPr b="1" dirty="0"/>
                        <a:t>Low</a:t>
                      </a:r>
                    </a:p>
                  </a:txBody>
                  <a:tcPr/>
                </a:tc>
                <a:extLst>
                  <a:ext uri="{0D108BD9-81ED-4DB2-BD59-A6C34878D82A}">
                    <a16:rowId xmlns:a16="http://schemas.microsoft.com/office/drawing/2014/main" val="10005"/>
                  </a:ext>
                </a:extLst>
              </a:tr>
            </a:tbl>
          </a:graphicData>
        </a:graphic>
      </p:graphicFrame>
      <p:sp>
        <p:nvSpPr>
          <p:cNvPr id="6" name="TextBox 5">
            <a:extLst>
              <a:ext uri="{FF2B5EF4-FFF2-40B4-BE49-F238E27FC236}">
                <a16:creationId xmlns:a16="http://schemas.microsoft.com/office/drawing/2014/main" id="{C32D25A0-B0CF-9F34-A648-D4696C219521}"/>
              </a:ext>
            </a:extLst>
          </p:cNvPr>
          <p:cNvSpPr txBox="1"/>
          <p:nvPr/>
        </p:nvSpPr>
        <p:spPr>
          <a:xfrm>
            <a:off x="762000" y="5543408"/>
            <a:ext cx="7467600" cy="923330"/>
          </a:xfrm>
          <a:prstGeom prst="rect">
            <a:avLst/>
          </a:prstGeom>
          <a:noFill/>
        </p:spPr>
        <p:txBody>
          <a:bodyPr wrap="square">
            <a:spAutoFit/>
          </a:bodyPr>
          <a:lstStyle/>
          <a:p>
            <a:pPr marL="0" lvl="0" indent="0">
              <a:buNone/>
            </a:pPr>
            <a:r>
              <a:rPr lang="en-IN" b="1" dirty="0"/>
              <a:t>Key Takeaways:</a:t>
            </a:r>
            <a:r>
              <a:rPr lang="en-IN" dirty="0"/>
              <a:t> - 39% reduction in MTTR - 39% reduction in error rate - 28% reduction in mean latency - 15% improvement in resource utilization</a:t>
            </a:r>
          </a:p>
        </p:txBody>
      </p:sp>
    </p:spTree>
    <p:extLst>
      <p:ext uri="{BB962C8B-B14F-4D97-AF65-F5344CB8AC3E}">
        <p14:creationId xmlns:p14="http://schemas.microsoft.com/office/powerpoint/2010/main" val="28209929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0600" y="11723"/>
            <a:ext cx="10363200" cy="936154"/>
          </a:xfrm>
          <a:prstGeom prst="rect">
            <a:avLst/>
          </a:prstGeom>
        </p:spPr>
        <p:txBody>
          <a:bodyPr vert="horz" wrap="square" lIns="0" tIns="12700" rIns="0" bIns="0" rtlCol="0">
            <a:spAutoFit/>
          </a:bodyPr>
          <a:lstStyle/>
          <a:p>
            <a:pPr marL="1227455" algn="l">
              <a:lnSpc>
                <a:spcPct val="100000"/>
              </a:lnSpc>
              <a:spcBef>
                <a:spcPts val="100"/>
              </a:spcBef>
            </a:pPr>
            <a:r>
              <a:rPr lang="en-IN" dirty="0"/>
              <a:t>Baseline Analysis — What Each </a:t>
            </a:r>
            <a:br>
              <a:rPr lang="en-IN" dirty="0"/>
            </a:br>
            <a:r>
              <a:rPr lang="en-IN" dirty="0"/>
              <a:t>Comparison Proves</a:t>
            </a:r>
            <a:endParaRPr spc="-10" dirty="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10</a:t>
            </a:fld>
            <a:endParaRPr spc="-25" dirty="0"/>
          </a:p>
        </p:txBody>
      </p:sp>
      <p:sp>
        <p:nvSpPr>
          <p:cNvPr id="3" name="object 3"/>
          <p:cNvSpPr txBox="1">
            <a:spLocks noGrp="1"/>
          </p:cNvSpPr>
          <p:nvPr>
            <p:ph type="body" idx="1"/>
          </p:nvPr>
        </p:nvSpPr>
        <p:spPr>
          <a:xfrm>
            <a:off x="381000" y="1729817"/>
            <a:ext cx="8612505" cy="2167260"/>
          </a:xfrm>
          <a:prstGeom prst="rect">
            <a:avLst/>
          </a:prstGeom>
        </p:spPr>
        <p:txBody>
          <a:bodyPr vert="horz" wrap="square" lIns="0" tIns="12700" rIns="0" bIns="0" rtlCol="0">
            <a:spAutoFit/>
          </a:bodyPr>
          <a:lstStyle/>
          <a:p>
            <a:pPr marL="342900" lvl="0" indent="-342900">
              <a:buFont typeface="Arial" panose="020B0604020202020204" pitchFamily="34" charset="0"/>
              <a:buChar char="•"/>
            </a:pPr>
            <a:r>
              <a:rPr lang="en-IN" b="1" dirty="0"/>
              <a:t>Per-Service SRE vs RGP:</a:t>
            </a:r>
            <a:r>
              <a:rPr lang="en-IN" dirty="0"/>
              <a:t> Even unsophisticated group-level coordination yields modest gains — confirming that coordination itself has value.</a:t>
            </a:r>
          </a:p>
          <a:p>
            <a:pPr marL="342900" lvl="0" indent="-342900">
              <a:buFont typeface="Arial" panose="020B0604020202020204" pitchFamily="34" charset="0"/>
              <a:buChar char="•"/>
            </a:pPr>
            <a:r>
              <a:rPr lang="en-IN" b="1" dirty="0"/>
              <a:t>RGP vs E-MARS:</a:t>
            </a:r>
            <a:r>
              <a:rPr lang="en-IN" dirty="0"/>
              <a:t> The substantially larger gap confirms that </a:t>
            </a:r>
            <a:r>
              <a:rPr lang="en-IN" i="1" dirty="0"/>
              <a:t>the quality of clustering matters</a:t>
            </a:r>
            <a:r>
              <a:rPr lang="en-IN" dirty="0"/>
              <a:t> — modularity-based community detection finds structurally meaningful groups that random partitioning cannot replicate.</a:t>
            </a:r>
          </a:p>
          <a:p>
            <a:pPr marL="342900" lvl="0" indent="-342900">
              <a:buFont typeface="Arial" panose="020B0604020202020204" pitchFamily="34" charset="0"/>
              <a:buChar char="•"/>
            </a:pPr>
            <a:r>
              <a:rPr lang="en-IN" b="1" dirty="0"/>
              <a:t>ADAF vs E-MARS:</a:t>
            </a:r>
            <a:r>
              <a:rPr lang="en-IN" dirty="0"/>
              <a:t> Graph-based structural awareness provides measurable advantages beyond AI-driven per-service automation alone.</a:t>
            </a:r>
          </a:p>
        </p:txBody>
      </p:sp>
      <p:sp>
        <p:nvSpPr>
          <p:cNvPr id="6" name="TextBox 5">
            <a:extLst>
              <a:ext uri="{FF2B5EF4-FFF2-40B4-BE49-F238E27FC236}">
                <a16:creationId xmlns:a16="http://schemas.microsoft.com/office/drawing/2014/main" id="{87F247FB-9793-9102-1D29-29ADFCEB2700}"/>
              </a:ext>
            </a:extLst>
          </p:cNvPr>
          <p:cNvSpPr txBox="1"/>
          <p:nvPr/>
        </p:nvSpPr>
        <p:spPr>
          <a:xfrm>
            <a:off x="-774700" y="5257800"/>
            <a:ext cx="9423654" cy="646331"/>
          </a:xfrm>
          <a:prstGeom prst="rect">
            <a:avLst/>
          </a:prstGeom>
          <a:noFill/>
        </p:spPr>
        <p:txBody>
          <a:bodyPr wrap="square">
            <a:spAutoFit/>
          </a:bodyPr>
          <a:lstStyle/>
          <a:p>
            <a:pPr marL="1270000" lvl="0" indent="0" algn="l">
              <a:buNone/>
            </a:pPr>
            <a:r>
              <a:rPr lang="en-IN" sz="1800" i="1" dirty="0"/>
              <a:t>“Together, these comparisons validate that emergent modularization is the key architectural insight driving E-MARS’s performance.”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4B94C-749A-9E4C-9949-29669825C4B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1784829-7BF8-B49A-B5E4-5BFAFFDE6233}"/>
              </a:ext>
            </a:extLst>
          </p:cNvPr>
          <p:cNvSpPr txBox="1">
            <a:spLocks noGrp="1"/>
          </p:cNvSpPr>
          <p:nvPr>
            <p:ph type="title"/>
          </p:nvPr>
        </p:nvSpPr>
        <p:spPr>
          <a:xfrm>
            <a:off x="-609600" y="213462"/>
            <a:ext cx="10363200" cy="474489"/>
          </a:xfrm>
          <a:prstGeom prst="rect">
            <a:avLst/>
          </a:prstGeom>
        </p:spPr>
        <p:txBody>
          <a:bodyPr vert="horz" wrap="square" lIns="0" tIns="12700" rIns="0" bIns="0" rtlCol="0">
            <a:spAutoFit/>
          </a:bodyPr>
          <a:lstStyle/>
          <a:p>
            <a:pPr marL="1227455" algn="l">
              <a:lnSpc>
                <a:spcPct val="100000"/>
              </a:lnSpc>
              <a:spcBef>
                <a:spcPts val="100"/>
              </a:spcBef>
            </a:pPr>
            <a:r>
              <a:rPr lang="en-IN" spc="-10" dirty="0"/>
              <a:t>Discussion</a:t>
            </a:r>
            <a:endParaRPr spc="-10" dirty="0"/>
          </a:p>
        </p:txBody>
      </p:sp>
      <p:sp>
        <p:nvSpPr>
          <p:cNvPr id="4" name="object 4">
            <a:extLst>
              <a:ext uri="{FF2B5EF4-FFF2-40B4-BE49-F238E27FC236}">
                <a16:creationId xmlns:a16="http://schemas.microsoft.com/office/drawing/2014/main" id="{D3E87D4D-238B-0CDF-EABA-E023CAC9C77C}"/>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11</a:t>
            </a:fld>
            <a:endParaRPr spc="-25" dirty="0"/>
          </a:p>
        </p:txBody>
      </p:sp>
      <p:sp>
        <p:nvSpPr>
          <p:cNvPr id="3" name="object 3">
            <a:extLst>
              <a:ext uri="{FF2B5EF4-FFF2-40B4-BE49-F238E27FC236}">
                <a16:creationId xmlns:a16="http://schemas.microsoft.com/office/drawing/2014/main" id="{5B1632C7-090A-F430-985F-C7FF82BFABC4}"/>
              </a:ext>
            </a:extLst>
          </p:cNvPr>
          <p:cNvSpPr txBox="1">
            <a:spLocks noGrp="1"/>
          </p:cNvSpPr>
          <p:nvPr>
            <p:ph type="body" idx="1"/>
          </p:nvPr>
        </p:nvSpPr>
        <p:spPr>
          <a:xfrm>
            <a:off x="381000" y="1729817"/>
            <a:ext cx="8612505" cy="2782813"/>
          </a:xfrm>
          <a:prstGeom prst="rect">
            <a:avLst/>
          </a:prstGeom>
        </p:spPr>
        <p:txBody>
          <a:bodyPr vert="horz" wrap="square" lIns="0" tIns="12700" rIns="0" bIns="0" rtlCol="0">
            <a:spAutoFit/>
          </a:bodyPr>
          <a:lstStyle/>
          <a:p>
            <a:pPr lvl="0"/>
            <a:r>
              <a:rPr lang="en-IN" b="1" dirty="0"/>
              <a:t>Why Module-Aware Reliability Works:</a:t>
            </a:r>
          </a:p>
          <a:p>
            <a:pPr lvl="0"/>
            <a:r>
              <a:rPr lang="en-IN" b="1" dirty="0"/>
              <a:t>Improved Fault Isolation</a:t>
            </a:r>
            <a:r>
              <a:rPr lang="en-IN" dirty="0"/>
              <a:t> Failures remain contained within module boundaries rather than cascading system-wide.</a:t>
            </a:r>
          </a:p>
          <a:p>
            <a:pPr lvl="0"/>
            <a:r>
              <a:rPr lang="en-IN" b="1" dirty="0"/>
              <a:t>Coordinated Scaling</a:t>
            </a:r>
            <a:r>
              <a:rPr lang="en-IN" dirty="0"/>
              <a:t> Scaling entire functionally related modules avoids bottleneck shifts across dependent services.</a:t>
            </a:r>
          </a:p>
          <a:p>
            <a:pPr lvl="0"/>
            <a:r>
              <a:rPr lang="en-IN" b="1" dirty="0"/>
              <a:t>Better Observability</a:t>
            </a:r>
            <a:r>
              <a:rPr lang="en-IN" dirty="0"/>
              <a:t> Module-level dashboards surface system insights more clearly than per-service monitoring.</a:t>
            </a:r>
          </a:p>
          <a:p>
            <a:pPr lvl="0"/>
            <a:r>
              <a:rPr lang="en-IN" b="1" dirty="0"/>
              <a:t>Reduced Incident Response Time</a:t>
            </a:r>
            <a:r>
              <a:rPr lang="en-IN" dirty="0"/>
              <a:t> Operators focus on smaller, semantically meaningful subsets of services rather than individual endpoints.</a:t>
            </a:r>
          </a:p>
        </p:txBody>
      </p:sp>
    </p:spTree>
    <p:extLst>
      <p:ext uri="{BB962C8B-B14F-4D97-AF65-F5344CB8AC3E}">
        <p14:creationId xmlns:p14="http://schemas.microsoft.com/office/powerpoint/2010/main" val="35617915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EF96B-B918-BEB8-A180-3EF114088C8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B1FE069-B8B1-8E5C-4BFC-10FD315A2D19}"/>
              </a:ext>
            </a:extLst>
          </p:cNvPr>
          <p:cNvSpPr txBox="1">
            <a:spLocks noGrp="1"/>
          </p:cNvSpPr>
          <p:nvPr>
            <p:ph type="title"/>
          </p:nvPr>
        </p:nvSpPr>
        <p:spPr>
          <a:xfrm>
            <a:off x="-609600" y="213462"/>
            <a:ext cx="10363200" cy="474489"/>
          </a:xfrm>
          <a:prstGeom prst="rect">
            <a:avLst/>
          </a:prstGeom>
        </p:spPr>
        <p:txBody>
          <a:bodyPr vert="horz" wrap="square" lIns="0" tIns="12700" rIns="0" bIns="0" rtlCol="0">
            <a:spAutoFit/>
          </a:bodyPr>
          <a:lstStyle/>
          <a:p>
            <a:pPr marL="1227455" algn="l">
              <a:lnSpc>
                <a:spcPct val="100000"/>
              </a:lnSpc>
              <a:spcBef>
                <a:spcPts val="100"/>
              </a:spcBef>
            </a:pPr>
            <a:r>
              <a:rPr lang="en-IN" dirty="0"/>
              <a:t>Limitations &amp; Future Work</a:t>
            </a:r>
            <a:endParaRPr spc="-10" dirty="0"/>
          </a:p>
        </p:txBody>
      </p:sp>
      <p:sp>
        <p:nvSpPr>
          <p:cNvPr id="4" name="object 4">
            <a:extLst>
              <a:ext uri="{FF2B5EF4-FFF2-40B4-BE49-F238E27FC236}">
                <a16:creationId xmlns:a16="http://schemas.microsoft.com/office/drawing/2014/main" id="{E9835223-E1DA-5186-F5D7-8145AFF5BE76}"/>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12</a:t>
            </a:fld>
            <a:endParaRPr spc="-25" dirty="0"/>
          </a:p>
        </p:txBody>
      </p:sp>
      <p:sp>
        <p:nvSpPr>
          <p:cNvPr id="3" name="object 3">
            <a:extLst>
              <a:ext uri="{FF2B5EF4-FFF2-40B4-BE49-F238E27FC236}">
                <a16:creationId xmlns:a16="http://schemas.microsoft.com/office/drawing/2014/main" id="{2577B20A-C3C5-CF00-AEBF-0541B9840FF7}"/>
              </a:ext>
            </a:extLst>
          </p:cNvPr>
          <p:cNvSpPr txBox="1">
            <a:spLocks noGrp="1"/>
          </p:cNvSpPr>
          <p:nvPr>
            <p:ph type="body" idx="1"/>
          </p:nvPr>
        </p:nvSpPr>
        <p:spPr>
          <a:xfrm>
            <a:off x="381000" y="1371600"/>
            <a:ext cx="8052054" cy="2782813"/>
          </a:xfrm>
          <a:prstGeom prst="rect">
            <a:avLst/>
          </a:prstGeom>
        </p:spPr>
        <p:txBody>
          <a:bodyPr vert="horz" wrap="square" lIns="0" tIns="12700" rIns="0" bIns="0" rtlCol="0">
            <a:spAutoFit/>
          </a:bodyPr>
          <a:lstStyle/>
          <a:p>
            <a:pPr lvl="0"/>
            <a:r>
              <a:rPr lang="en-IN" b="1" dirty="0"/>
              <a:t>Current Limitations:</a:t>
            </a:r>
            <a:r>
              <a:rPr lang="en-IN" dirty="0"/>
              <a:t> - Dependence on observability data quality — poor telemetry degrades clustering accuracy - Potential instability in clustering results under rapidly shifting workloads - Additional compute overhead for continuous graph analysis</a:t>
            </a:r>
          </a:p>
          <a:p>
            <a:pPr lvl="0"/>
            <a:r>
              <a:rPr lang="en-IN" b="1" dirty="0"/>
              <a:t>Future Work:</a:t>
            </a:r>
            <a:r>
              <a:rPr lang="en-IN" dirty="0"/>
              <a:t> - Validation on real-world production traces (Alibaba/Google cluster datasets) - Online learning adaptations of the RL control engine - Deeper integration of Transformer-based workload prediction - Ablation studies to isolate contributions of individual components - Extension to heterogeneous multi-cloud environments</a:t>
            </a:r>
          </a:p>
        </p:txBody>
      </p:sp>
    </p:spTree>
    <p:extLst>
      <p:ext uri="{BB962C8B-B14F-4D97-AF65-F5344CB8AC3E}">
        <p14:creationId xmlns:p14="http://schemas.microsoft.com/office/powerpoint/2010/main" val="39419600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3D84E-75F8-0766-4C24-199CEBDD3C8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320533D-639B-00B7-386D-690E1C5B51A3}"/>
              </a:ext>
            </a:extLst>
          </p:cNvPr>
          <p:cNvSpPr txBox="1">
            <a:spLocks noGrp="1"/>
          </p:cNvSpPr>
          <p:nvPr>
            <p:ph type="title"/>
          </p:nvPr>
        </p:nvSpPr>
        <p:spPr>
          <a:xfrm>
            <a:off x="-609600" y="213462"/>
            <a:ext cx="10363200" cy="474489"/>
          </a:xfrm>
          <a:prstGeom prst="rect">
            <a:avLst/>
          </a:prstGeom>
        </p:spPr>
        <p:txBody>
          <a:bodyPr vert="horz" wrap="square" lIns="0" tIns="12700" rIns="0" bIns="0" rtlCol="0">
            <a:spAutoFit/>
          </a:bodyPr>
          <a:lstStyle/>
          <a:p>
            <a:pPr marL="1227455" algn="l">
              <a:lnSpc>
                <a:spcPct val="100000"/>
              </a:lnSpc>
              <a:spcBef>
                <a:spcPts val="100"/>
              </a:spcBef>
            </a:pPr>
            <a:r>
              <a:rPr lang="en-IN" dirty="0"/>
              <a:t>Conclusion</a:t>
            </a:r>
            <a:endParaRPr spc="-10" dirty="0"/>
          </a:p>
        </p:txBody>
      </p:sp>
      <p:sp>
        <p:nvSpPr>
          <p:cNvPr id="4" name="object 4">
            <a:extLst>
              <a:ext uri="{FF2B5EF4-FFF2-40B4-BE49-F238E27FC236}">
                <a16:creationId xmlns:a16="http://schemas.microsoft.com/office/drawing/2014/main" id="{B551BBF8-3435-1D47-2069-E7DC465A5D06}"/>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13</a:t>
            </a:fld>
            <a:endParaRPr spc="-25" dirty="0"/>
          </a:p>
        </p:txBody>
      </p:sp>
      <p:sp>
        <p:nvSpPr>
          <p:cNvPr id="3" name="object 3">
            <a:extLst>
              <a:ext uri="{FF2B5EF4-FFF2-40B4-BE49-F238E27FC236}">
                <a16:creationId xmlns:a16="http://schemas.microsoft.com/office/drawing/2014/main" id="{64AB27FA-5BC5-C77C-5BCA-0054BDB4797C}"/>
              </a:ext>
            </a:extLst>
          </p:cNvPr>
          <p:cNvSpPr txBox="1">
            <a:spLocks noGrp="1"/>
          </p:cNvSpPr>
          <p:nvPr>
            <p:ph type="body" idx="1"/>
          </p:nvPr>
        </p:nvSpPr>
        <p:spPr>
          <a:xfrm>
            <a:off x="381000" y="1371600"/>
            <a:ext cx="8052054" cy="3090590"/>
          </a:xfrm>
          <a:prstGeom prst="rect">
            <a:avLst/>
          </a:prstGeom>
        </p:spPr>
        <p:txBody>
          <a:bodyPr vert="horz" wrap="square" lIns="0" tIns="12700" rIns="0" bIns="0" rtlCol="0">
            <a:spAutoFit/>
          </a:bodyPr>
          <a:lstStyle/>
          <a:p>
            <a:pPr lvl="0"/>
            <a:r>
              <a:rPr lang="en-IN" dirty="0"/>
              <a:t>E-MARS introduces a novel framework for </a:t>
            </a:r>
            <a:r>
              <a:rPr lang="en-IN" b="1" dirty="0"/>
              <a:t>adaptive reliability management</a:t>
            </a:r>
            <a:r>
              <a:rPr lang="en-IN" dirty="0"/>
              <a:t> in microservice architectures</a:t>
            </a:r>
          </a:p>
          <a:p>
            <a:pPr lvl="0"/>
            <a:r>
              <a:rPr lang="en-IN" dirty="0"/>
              <a:t>By discovering emergent service modules using </a:t>
            </a:r>
            <a:r>
              <a:rPr lang="en-IN" b="1" dirty="0"/>
              <a:t>graph-based community detection</a:t>
            </a:r>
            <a:r>
              <a:rPr lang="en-IN" dirty="0"/>
              <a:t>, E-MARS aligns reliability decisions with the system’s true dependency structure</a:t>
            </a:r>
          </a:p>
          <a:p>
            <a:pPr lvl="0"/>
            <a:r>
              <a:rPr lang="en-IN" dirty="0"/>
              <a:t>Experimental results demonstrate significant improvements across </a:t>
            </a:r>
            <a:r>
              <a:rPr lang="en-IN" b="1" dirty="0"/>
              <a:t>latency, MTTR, error rates, and resource utilization</a:t>
            </a:r>
          </a:p>
          <a:p>
            <a:pPr lvl="0"/>
            <a:r>
              <a:rPr lang="en-IN" dirty="0"/>
              <a:t>The multi-baseline evaluation validates that </a:t>
            </a:r>
            <a:r>
              <a:rPr lang="en-IN" b="1" dirty="0"/>
              <a:t>emergent modularization</a:t>
            </a:r>
            <a:r>
              <a:rPr lang="en-IN" dirty="0"/>
              <a:t> — inspired by neural network architectures — provides a powerful and scalable paradigm for managing complex cloud-native systems</a:t>
            </a:r>
          </a:p>
        </p:txBody>
      </p:sp>
      <p:sp>
        <p:nvSpPr>
          <p:cNvPr id="6" name="TextBox 5">
            <a:extLst>
              <a:ext uri="{FF2B5EF4-FFF2-40B4-BE49-F238E27FC236}">
                <a16:creationId xmlns:a16="http://schemas.microsoft.com/office/drawing/2014/main" id="{1B56B38F-201D-E994-2F2E-35E488671085}"/>
              </a:ext>
            </a:extLst>
          </p:cNvPr>
          <p:cNvSpPr txBox="1"/>
          <p:nvPr/>
        </p:nvSpPr>
        <p:spPr>
          <a:xfrm>
            <a:off x="609600" y="4886235"/>
            <a:ext cx="7467600" cy="923330"/>
          </a:xfrm>
          <a:prstGeom prst="rect">
            <a:avLst/>
          </a:prstGeom>
          <a:noFill/>
        </p:spPr>
        <p:txBody>
          <a:bodyPr wrap="square">
            <a:spAutoFit/>
          </a:bodyPr>
          <a:lstStyle/>
          <a:p>
            <a:pPr marL="1270000" lvl="0" indent="0">
              <a:buNone/>
            </a:pPr>
            <a:r>
              <a:rPr lang="en-IN" sz="1800" i="1" dirty="0"/>
              <a:t>“The same emergent specialization that makes deep neural networks powerful can make distributed systems more reliable.”</a:t>
            </a:r>
          </a:p>
        </p:txBody>
      </p:sp>
    </p:spTree>
    <p:extLst>
      <p:ext uri="{BB962C8B-B14F-4D97-AF65-F5344CB8AC3E}">
        <p14:creationId xmlns:p14="http://schemas.microsoft.com/office/powerpoint/2010/main" val="39439117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33725" y="3079826"/>
            <a:ext cx="3034030" cy="848994"/>
          </a:xfrm>
          <a:prstGeom prst="rect">
            <a:avLst/>
          </a:prstGeom>
        </p:spPr>
        <p:txBody>
          <a:bodyPr vert="horz" wrap="square" lIns="0" tIns="12700" rIns="0" bIns="0" rtlCol="0">
            <a:spAutoFit/>
          </a:bodyPr>
          <a:lstStyle/>
          <a:p>
            <a:pPr marL="12700">
              <a:lnSpc>
                <a:spcPct val="100000"/>
              </a:lnSpc>
              <a:spcBef>
                <a:spcPts val="100"/>
              </a:spcBef>
            </a:pPr>
            <a:r>
              <a:rPr sz="5400" dirty="0"/>
              <a:t>Thank</a:t>
            </a:r>
            <a:r>
              <a:rPr sz="5400" spc="-204" dirty="0"/>
              <a:t> </a:t>
            </a:r>
            <a:r>
              <a:rPr sz="5400" spc="-545" dirty="0"/>
              <a:t>Y</a:t>
            </a:r>
            <a:r>
              <a:rPr sz="5400" spc="20" dirty="0"/>
              <a:t>ou</a:t>
            </a:r>
            <a:endParaRPr sz="5400"/>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14</a:t>
            </a:fld>
            <a:endParaRPr spc="-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4ca0b373-e9b1-4578-8e53-53d6aaa79771}" enabled="1" method="Standard" siteId="{f9465cb1-7889-4d9a-b552-fdd0addf0eb1}" removed="0"/>
</clbl:labelList>
</file>

<file path=docProps/app.xml><?xml version="1.0" encoding="utf-8"?>
<Properties xmlns="http://schemas.openxmlformats.org/officeDocument/2006/extended-properties" xmlns:vt="http://schemas.openxmlformats.org/officeDocument/2006/docPropsVTypes">
  <Template/>
  <TotalTime>7908</TotalTime>
  <Words>3019</Words>
  <Application>Microsoft Macintosh PowerPoint</Application>
  <PresentationFormat>On-screen Show (4:3)</PresentationFormat>
  <Paragraphs>145</Paragraphs>
  <Slides>14</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Aptos</vt:lpstr>
      <vt:lpstr>Arial</vt:lpstr>
      <vt:lpstr>Arial MT</vt:lpstr>
      <vt:lpstr>Calibri</vt:lpstr>
      <vt:lpstr>Courier</vt:lpstr>
      <vt:lpstr>Times New Roman</vt:lpstr>
      <vt:lpstr>Office Theme</vt:lpstr>
      <vt:lpstr>E-MARS: Emergent Modular Adaptive Reliability System</vt:lpstr>
      <vt:lpstr>Problem Statement</vt:lpstr>
      <vt:lpstr>Motivation &amp; Inspiration</vt:lpstr>
      <vt:lpstr>Objectives</vt:lpstr>
      <vt:lpstr>Methodology Overview</vt:lpstr>
      <vt:lpstr>System Architecture</vt:lpstr>
      <vt:lpstr>Module Detection Algorithm</vt:lpstr>
      <vt:lpstr>Experimental Setup</vt:lpstr>
      <vt:lpstr>Results</vt:lpstr>
      <vt:lpstr>Baseline Analysis — What Each  Comparison Proves</vt:lpstr>
      <vt:lpstr>Discussion</vt:lpstr>
      <vt:lpstr>Limitations &amp; Future Work</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Harnoor Kaur</cp:lastModifiedBy>
  <cp:revision>6</cp:revision>
  <dcterms:created xsi:type="dcterms:W3CDTF">2025-09-21T18:13:32Z</dcterms:created>
  <dcterms:modified xsi:type="dcterms:W3CDTF">2026-05-04T04:10:53Z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2024-12-20T00:00:00Z</vt:filetime>
  </property>
  <property fmtid="{D5CDD505-2E9C-101B-9397-08002B2CF9AE}" pid="3" name="Creator">
    <vt:lpwstr>Microsoft® PowerPoint® 2016</vt:lpwstr>
  </property>
  <property fmtid="{D5CDD505-2E9C-101B-9397-08002B2CF9AE}" pid="4" name="LastSaved">
    <vt:filetime>2025-09-21T00:00:00Z</vt:filetime>
  </property>
  <property fmtid="{D5CDD505-2E9C-101B-9397-08002B2CF9AE}" pid="5" name="Producer">
    <vt:lpwstr>www.ilovepdf.com</vt:lpwstr>
  </property>
</Properties>
</file>